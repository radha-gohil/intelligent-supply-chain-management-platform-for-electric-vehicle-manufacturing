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504" r:id="rId6"/>
    <p:sldId id="2147470505" r:id="rId7"/>
    <p:sldId id="2147470494" r:id="rId8"/>
    <p:sldId id="2147470501" r:id="rId9"/>
    <p:sldId id="2147470498" r:id="rId10"/>
    <p:sldId id="2147470497" r:id="rId11"/>
    <p:sldId id="2147470499" r:id="rId12"/>
    <p:sldId id="2147470502" r:id="rId13"/>
    <p:sldId id="214747050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</a:t>
            </a:r>
          </a:p>
          <a:p>
            <a:pPr lvl="0" algn="ctr"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Intelligent Supply Chain Management Platform for </a:t>
            </a:r>
          </a:p>
          <a:p>
            <a:pPr lvl="0"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Electric Vehicle Manufacturing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NAME: RADHA GOHIL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T10002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CCA5CD2-B055-9613-0BCC-4FF41EE92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56" y="5873783"/>
            <a:ext cx="2477501" cy="966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79095"/>
            <a:ext cx="11936004" cy="5096653"/>
          </a:xfrm>
        </p:spPr>
        <p:txBody>
          <a:bodyPr/>
          <a:lstStyle/>
          <a:p>
            <a:pPr lvl="0" algn="just"/>
            <a:r>
              <a:rPr lang="en-IN" sz="2400" b="0" dirty="0">
                <a:latin typeface="+mn-lt"/>
              </a:rPr>
              <a:t>EVFlow is an intelligent supply chain management platform for electric vehicle manufacturing.</a:t>
            </a:r>
          </a:p>
          <a:p>
            <a:pPr lvl="0" algn="just"/>
            <a:r>
              <a:rPr lang="en-IN" sz="2400" b="0" dirty="0">
                <a:latin typeface="+mn-lt"/>
              </a:rPr>
              <a:t>It integrates inventory, suppliers, procurement, purchase orders, and shipment tracking in one system.</a:t>
            </a:r>
          </a:p>
          <a:p>
            <a:pPr lvl="0" algn="just"/>
            <a:r>
              <a:rPr lang="en-IN" sz="2400" b="0" dirty="0">
                <a:latin typeface="+mn-lt"/>
              </a:rPr>
              <a:t>The platform improves real-time visibility and helps identify shortages, supplier risks, and delays.</a:t>
            </a:r>
          </a:p>
          <a:p>
            <a:pPr lvl="0" algn="just"/>
            <a:r>
              <a:rPr lang="en-IN" sz="2400" b="0" dirty="0">
                <a:latin typeface="+mn-lt"/>
              </a:rPr>
              <a:t>XGBoost is used for supplier risk prediction, while multi-criteria analysis supports supplier ranking and procurement recommendations.</a:t>
            </a:r>
          </a:p>
          <a:p>
            <a:pPr lvl="0" algn="just"/>
            <a:r>
              <a:rPr lang="en-IN" sz="2400" b="0" dirty="0">
                <a:latin typeface="+mn-lt"/>
              </a:rPr>
              <a:t>Graph-RAG provide relationship-based supply chain intelligence for better decision-making.</a:t>
            </a:r>
          </a:p>
          <a:p>
            <a:pPr lvl="0" algn="just"/>
            <a:r>
              <a:rPr lang="en-IN" sz="2400" b="0" dirty="0">
                <a:latin typeface="+mn-lt"/>
              </a:rPr>
              <a:t>The system aims to make EV supply chain operations more efficient, transparent, and data-driven.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1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Introduction….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3612630" y="57036"/>
            <a:ext cx="8579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Intelligent Supply Chain Management Platform for Electric Vehicle Manufacturing</a:t>
            </a:r>
            <a:endParaRPr lang="en-US" dirty="0"/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751125" cy="4142989"/>
          </a:xfrm>
        </p:spPr>
        <p:txBody>
          <a:bodyPr/>
          <a:lstStyle/>
          <a:p>
            <a:pPr lvl="0" algn="just"/>
            <a:r>
              <a:rPr lang="en-IN" sz="2400" b="0" dirty="0">
                <a:latin typeface="+mn-lt"/>
              </a:rPr>
              <a:t>Develop an intelligent EV supply chain management platform integrating inventory, suppliers, procurement, purchase orders, and shipment tracking.</a:t>
            </a:r>
          </a:p>
          <a:p>
            <a:pPr lvl="0" algn="just"/>
            <a:r>
              <a:rPr lang="en-IN" sz="2400" b="0" dirty="0">
                <a:latin typeface="+mn-lt"/>
              </a:rPr>
              <a:t>Improve real-time visibility of component availability, supplier performance, procurement status, and logistics movement.</a:t>
            </a:r>
          </a:p>
          <a:p>
            <a:pPr lvl="0" algn="just"/>
            <a:r>
              <a:rPr lang="en-IN" sz="2400" b="0" dirty="0">
                <a:latin typeface="+mn-lt"/>
              </a:rPr>
              <a:t>Use XGBoost for supplier risk prediction based on historical and performance-related supplier data.</a:t>
            </a:r>
          </a:p>
          <a:p>
            <a:pPr lvl="0" algn="just"/>
            <a:r>
              <a:rPr lang="en-IN" sz="2400" b="0" dirty="0">
                <a:latin typeface="+mn-lt"/>
              </a:rPr>
              <a:t>Apply multi-criteria analysis for supplier ranking and procurement recommendations using reliability, quality, price, lead time, availability, and risk.</a:t>
            </a:r>
          </a:p>
          <a:p>
            <a:pPr lvl="0" algn="just"/>
            <a:r>
              <a:rPr lang="en-IN" sz="2400" b="0" dirty="0">
                <a:latin typeface="+mn-lt"/>
              </a:rPr>
              <a:t>Graph-RAG to analyse relationships among vehicles, components, suppliers, warehouses, and purchase orders.</a:t>
            </a:r>
          </a:p>
          <a:p>
            <a:pPr lvl="0" algn="just"/>
            <a:r>
              <a:rPr lang="en-IN" sz="2400" b="0" dirty="0">
                <a:latin typeface="+mn-lt"/>
              </a:rPr>
              <a:t>Support faster, data-driven decision-making while reducing inventory shortages, supplier risks, and procurement or shipment delays.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5396459" y="57036"/>
            <a:ext cx="67955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Intelligent Supply Chain Management Platform for Electric Vehicle Manufacturing</a:t>
            </a:r>
          </a:p>
          <a:p>
            <a:pPr algn="r"/>
            <a:endParaRPr lang="en-US" dirty="0"/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dirty="0"/>
              <a:t>Module 1: Inventory Management — Intelligent Inventory Planning</a:t>
            </a:r>
          </a:p>
          <a:p>
            <a:r>
              <a:rPr lang="en-IN" sz="2400" b="0" dirty="0"/>
              <a:t>Vehicle BOM</a:t>
            </a:r>
            <a:r>
              <a:rPr lang="en-US" sz="2400" b="0" dirty="0"/>
              <a:t> [</a:t>
            </a:r>
            <a:r>
              <a:rPr lang="en-IN" sz="2400" b="0" dirty="0"/>
              <a:t>Bill of Materials</a:t>
            </a:r>
            <a:r>
              <a:rPr lang="en-US" sz="2400" b="0" dirty="0"/>
              <a:t>] </a:t>
            </a:r>
            <a:r>
              <a:rPr lang="en-IN" sz="2400" b="0" dirty="0"/>
              <a:t>-based component requirements </a:t>
            </a:r>
          </a:p>
          <a:p>
            <a:r>
              <a:rPr lang="en-IN" sz="2400" b="0" dirty="0"/>
              <a:t>Stock, safety stock, incoming stock &amp; shortage analysis </a:t>
            </a:r>
          </a:p>
          <a:p>
            <a:r>
              <a:rPr lang="en-IN" sz="2400" b="0" dirty="0"/>
              <a:t>Multi-warehouse inventory and transaction management </a:t>
            </a:r>
          </a:p>
          <a:p>
            <a:r>
              <a:rPr lang="en-IN" sz="2400" b="0" dirty="0"/>
              <a:t>Procurement quantity &amp; urgency identification </a:t>
            </a:r>
          </a:p>
          <a:p>
            <a:pPr marL="0" indent="0">
              <a:buNone/>
            </a:pPr>
            <a:endParaRPr lang="en-IN" sz="2400" b="0" dirty="0"/>
          </a:p>
          <a:p>
            <a:pPr marL="0" indent="0">
              <a:buNone/>
            </a:pPr>
            <a:r>
              <a:rPr lang="en-IN" sz="2400" dirty="0"/>
              <a:t>Module 2: Supplier Intelligence — Supplier Performance &amp; Risk Analysis</a:t>
            </a:r>
          </a:p>
          <a:p>
            <a:r>
              <a:rPr lang="en-IN" sz="2400" b="0" dirty="0"/>
              <a:t>Supplier quality, reliability &amp; historical performance analysis </a:t>
            </a:r>
          </a:p>
          <a:p>
            <a:r>
              <a:rPr lang="en-IN" sz="2400" b="0" dirty="0"/>
              <a:t>XGBoost-based supplier risk prediction </a:t>
            </a:r>
          </a:p>
          <a:p>
            <a:r>
              <a:rPr lang="en-IN" sz="2400" b="0" dirty="0"/>
              <a:t>Supplier capacity, availability &amp; lead-time analysis </a:t>
            </a:r>
          </a:p>
          <a:p>
            <a:r>
              <a:rPr lang="en-IN" sz="2400" b="0" dirty="0"/>
              <a:t>Supplier performance monitoring </a:t>
            </a: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3912433" y="57036"/>
            <a:ext cx="82795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Intelligent Supply Chain Management Platform for Electric Vehicle Manufacturing</a:t>
            </a:r>
          </a:p>
          <a:p>
            <a:pPr algn="r"/>
            <a:endParaRPr lang="en-US" dirty="0"/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65DB8-2FB1-7632-7537-7633EFF2B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9FDC01-D166-BA07-8389-DD2215F381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dirty="0"/>
              <a:t>Module 3: Intelligent Procurement — AI-Based Procurement Decision</a:t>
            </a:r>
          </a:p>
          <a:p>
            <a:r>
              <a:rPr lang="en-IN" sz="2400" b="0" dirty="0"/>
              <a:t>Multi-criteria supplier ranking </a:t>
            </a:r>
          </a:p>
          <a:p>
            <a:r>
              <a:rPr lang="en-IN" sz="2400" b="0" dirty="0"/>
              <a:t>Best supplier &amp; procurement quantity recommendation </a:t>
            </a:r>
          </a:p>
          <a:p>
            <a:r>
              <a:rPr lang="en-IN" sz="2400" b="0" dirty="0"/>
              <a:t>Cost, capacity, MOQ, availability &amp; lead-time evaluation </a:t>
            </a:r>
          </a:p>
          <a:p>
            <a:r>
              <a:rPr lang="en-IN" sz="2400" b="0" dirty="0"/>
              <a:t>Risk-aware procurement decision support </a:t>
            </a:r>
          </a:p>
          <a:p>
            <a:endParaRPr lang="en-IN" sz="2400" b="0" dirty="0"/>
          </a:p>
          <a:p>
            <a:pPr marL="0" indent="0">
              <a:buNone/>
            </a:pPr>
            <a:r>
              <a:rPr lang="en-IN" sz="2400" dirty="0"/>
              <a:t>Module 4: Purchase Order Management — Procurement Execution &amp; Tracking</a:t>
            </a:r>
          </a:p>
          <a:p>
            <a:r>
              <a:rPr lang="en-IN" sz="2400" b="0" dirty="0"/>
              <a:t>Automated purchase order generation </a:t>
            </a:r>
          </a:p>
          <a:p>
            <a:r>
              <a:rPr lang="en-IN" sz="2400" b="0" dirty="0"/>
              <a:t>Confirmation, dispatch, transit &amp; delivery tracking </a:t>
            </a:r>
          </a:p>
          <a:p>
            <a:r>
              <a:rPr lang="en-IN" sz="2400" b="0" dirty="0"/>
              <a:t>Partial/full material receipt </a:t>
            </a:r>
          </a:p>
          <a:p>
            <a:r>
              <a:rPr lang="en-IN" sz="2400" b="0" dirty="0"/>
              <a:t>Inventory &amp; supplier availability updates</a:t>
            </a: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13332A-679C-8DD4-C2BF-13550C96263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D63994F-61E4-8824-34B4-9CF57FEBAF5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F5151DA-4C79-AD4B-9222-3D65EE30B094}"/>
              </a:ext>
            </a:extLst>
          </p:cNvPr>
          <p:cNvSpPr txBox="1"/>
          <p:nvPr/>
        </p:nvSpPr>
        <p:spPr>
          <a:xfrm>
            <a:off x="3912433" y="57036"/>
            <a:ext cx="82795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Intelligent Supply Chain Management Platform for Electric Vehicle Manufacturing</a:t>
            </a:r>
          </a:p>
          <a:p>
            <a:pPr algn="r"/>
            <a:endParaRPr lang="en-US" dirty="0"/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448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05066-6003-D012-D5AB-11533B042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0CC192-B20B-7EB4-BD0A-8F597E24EB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dirty="0"/>
              <a:t>Module 5: Supply Chain Knowledge Intelligence — Knowledge Graph &amp; Graph-RAG</a:t>
            </a:r>
          </a:p>
          <a:p>
            <a:r>
              <a:rPr lang="en-IN" sz="2400" b="0" dirty="0"/>
              <a:t>Vehicle–BOM–component–supplier–inventory–PO relationship mapping </a:t>
            </a:r>
          </a:p>
          <a:p>
            <a:r>
              <a:rPr lang="en-IN" sz="2400" b="0" dirty="0"/>
              <a:t>Neo4j-based supply-chain Knowledge Graph </a:t>
            </a:r>
          </a:p>
          <a:p>
            <a:r>
              <a:rPr lang="en-IN" sz="2400" b="0" dirty="0"/>
              <a:t>Graph-RAG + LLM-based intelligent querying </a:t>
            </a:r>
          </a:p>
          <a:p>
            <a:r>
              <a:rPr lang="en-IN" sz="2400" b="0" dirty="0"/>
              <a:t>Context-aware supply-chain knowledge retrieval </a:t>
            </a:r>
          </a:p>
          <a:p>
            <a:pPr marL="457200" lvl="1" indent="0">
              <a:buNone/>
            </a:pPr>
            <a:endParaRPr lang="en-US" dirty="0">
              <a:solidFill>
                <a:srgbClr val="1C3898"/>
              </a:solidFill>
            </a:endParaRP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BE25F5-6EE2-8199-7A51-5BD62BC4904E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1A85B31-EC95-1301-398C-C5C20DFFDE8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AC53F6C-2B5A-E610-E67A-629276CECDC8}"/>
              </a:ext>
            </a:extLst>
          </p:cNvPr>
          <p:cNvSpPr txBox="1"/>
          <p:nvPr/>
        </p:nvSpPr>
        <p:spPr>
          <a:xfrm>
            <a:off x="3912433" y="57036"/>
            <a:ext cx="82795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Intelligent Supply Chain Management Platform for Electric Vehicle Manufacturing</a:t>
            </a:r>
          </a:p>
          <a:p>
            <a:pPr algn="r"/>
            <a:endParaRPr lang="en-US" dirty="0"/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10271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766115" cy="4142989"/>
          </a:xfrm>
        </p:spPr>
        <p:txBody>
          <a:bodyPr/>
          <a:lstStyle/>
          <a:p>
            <a:pPr lvl="0" algn="just"/>
            <a:r>
              <a:rPr lang="en-IN" sz="2400" b="0" dirty="0">
                <a:latin typeface="+mn-lt"/>
              </a:rPr>
              <a:t>EV manufacturing involves a complex supply chain of components, suppliers, warehouses, procurement, and logistics.</a:t>
            </a:r>
          </a:p>
          <a:p>
            <a:pPr lvl="0" algn="just"/>
            <a:r>
              <a:rPr lang="en-IN" sz="2400" b="0" dirty="0">
                <a:latin typeface="+mn-lt"/>
              </a:rPr>
              <a:t>Managing multiple suppliers and components makes supplier selection and procurement decisions difficult and time-consuming.</a:t>
            </a:r>
          </a:p>
          <a:p>
            <a:pPr lvl="0" algn="just"/>
            <a:r>
              <a:rPr lang="en-IN" sz="2400" b="0" dirty="0">
                <a:latin typeface="+mn-lt"/>
              </a:rPr>
              <a:t>Manual evaluation of supplier performance can lead to inconsistent ranking and poor sourcing decisions.</a:t>
            </a:r>
          </a:p>
          <a:p>
            <a:pPr lvl="0" algn="just"/>
            <a:r>
              <a:rPr lang="en-IN" sz="2400" b="0" dirty="0">
                <a:latin typeface="+mn-lt"/>
              </a:rPr>
              <a:t>Delays in purchase orders, shipments, and component availability can affect production planning and manufacturing efficiency.</a:t>
            </a:r>
          </a:p>
          <a:p>
            <a:pPr lvl="0" algn="just"/>
            <a:r>
              <a:rPr lang="en-IN" sz="2400" b="0" dirty="0">
                <a:latin typeface="+mn-lt"/>
              </a:rPr>
              <a:t>There is a need for an intelligent, integrated platform using XGBoost, multi-criteria supplier ranking, and Graph-RAG for better supply-chain decisions.</a:t>
            </a:r>
          </a:p>
          <a:p>
            <a:pPr lvl="0" algn="just"/>
            <a:r>
              <a:rPr lang="en-IN" sz="2400" b="0" dirty="0">
                <a:latin typeface="+mn-lt"/>
              </a:rPr>
              <a:t>The proposed system aims to reduce supplier risk, shortages, procurement delays, and operational inefficiencies.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Problem Statement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3927423" y="57036"/>
            <a:ext cx="82645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Intelligent Supply Chain Management Platform for Electric Vehicle Manufacturing</a:t>
            </a:r>
          </a:p>
          <a:p>
            <a:pPr algn="r"/>
            <a:endParaRPr lang="en-US" dirty="0"/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2C3DBE-E507-D889-A890-2C56D2A659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691165" cy="4142989"/>
          </a:xfrm>
        </p:spPr>
        <p:txBody>
          <a:bodyPr/>
          <a:lstStyle/>
          <a:p>
            <a:pPr lvl="0" algn="just"/>
            <a:r>
              <a:rPr lang="en-IN" sz="2400" b="0" dirty="0">
                <a:latin typeface="+mn-lt"/>
              </a:rPr>
              <a:t>Collect and organize data related to components, inventory, suppliers, purchase orders, vehicles, warehouses, and shipments.</a:t>
            </a:r>
          </a:p>
          <a:p>
            <a:pPr lvl="0" algn="just"/>
            <a:r>
              <a:rPr lang="en-IN" sz="2400" b="0" dirty="0">
                <a:latin typeface="+mn-lt"/>
              </a:rPr>
              <a:t>Perform data preprocessing and feature preparation for supplier performance and risk analysis.</a:t>
            </a:r>
          </a:p>
          <a:p>
            <a:pPr lvl="0" algn="just"/>
            <a:r>
              <a:rPr lang="en-IN" sz="2400" b="0" dirty="0">
                <a:latin typeface="+mn-lt"/>
              </a:rPr>
              <a:t>Use XGBoost to predict supplier risk based on historical and performance-related factors.</a:t>
            </a:r>
          </a:p>
          <a:p>
            <a:pPr lvl="0" algn="just"/>
            <a:r>
              <a:rPr lang="en-IN" sz="2400" b="0" dirty="0">
                <a:latin typeface="+mn-lt"/>
              </a:rPr>
              <a:t>Apply multi-criteria analysis to rank suppliers and generate procurement recommendations using price, quality, reliability, lead time, availability, and risk.</a:t>
            </a:r>
          </a:p>
          <a:p>
            <a:pPr lvl="0" algn="just"/>
            <a:r>
              <a:rPr lang="en-IN" sz="2400" b="0" dirty="0">
                <a:latin typeface="+mn-lt"/>
              </a:rPr>
              <a:t>Integrate Graph-RAG to analyse relationships among vehicles, components, suppliers, warehouses, and purchase orders.</a:t>
            </a:r>
          </a:p>
          <a:p>
            <a:pPr lvl="0" algn="just"/>
            <a:r>
              <a:rPr lang="en-IN" sz="2400" b="0" dirty="0">
                <a:latin typeface="+mn-lt"/>
              </a:rPr>
              <a:t>Build the complete system using React frontend, Fast API backend, and PostgreSQL database for end-to-end supply chain management.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3852473" y="57036"/>
            <a:ext cx="83395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Intelligent Supply Chain Management Platform for Electric Vehicle Manufacturing</a:t>
            </a:r>
          </a:p>
          <a:p>
            <a:pPr algn="r"/>
            <a:endParaRPr lang="en-US" dirty="0"/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811086" cy="4142989"/>
          </a:xfrm>
        </p:spPr>
        <p:txBody>
          <a:bodyPr/>
          <a:lstStyle/>
          <a:p>
            <a:pPr lvl="0"/>
            <a:r>
              <a:rPr lang="en-IN" sz="2400" dirty="0">
                <a:latin typeface="+mn-lt"/>
              </a:rPr>
              <a:t>XGBoost</a:t>
            </a:r>
            <a:r>
              <a:rPr lang="en-IN" sz="2400" b="0" dirty="0">
                <a:latin typeface="+mn-lt"/>
              </a:rPr>
              <a:t> – used for supplier risk prediction based on supplier performance and historical factors.</a:t>
            </a:r>
          </a:p>
          <a:p>
            <a:pPr lvl="0"/>
            <a:r>
              <a:rPr lang="en-IN" sz="2400" dirty="0">
                <a:latin typeface="+mn-lt"/>
              </a:rPr>
              <a:t>Multi-Criteria Analysis </a:t>
            </a:r>
            <a:r>
              <a:rPr lang="en-IN" sz="2400" b="0" dirty="0">
                <a:latin typeface="+mn-lt"/>
              </a:rPr>
              <a:t>– used for supplier ranking and procurement recommendations considering price, quality, reliability, lead time, availability, and risk.</a:t>
            </a:r>
          </a:p>
          <a:p>
            <a:pPr lvl="0"/>
            <a:r>
              <a:rPr lang="en-IN" sz="2400" dirty="0">
                <a:latin typeface="+mn-lt"/>
              </a:rPr>
              <a:t>Graph-RAG</a:t>
            </a:r>
            <a:r>
              <a:rPr lang="en-IN" sz="2400" b="0" dirty="0">
                <a:latin typeface="+mn-lt"/>
              </a:rPr>
              <a:t> – used for relationship-based supply chain intelligence across vehicles, components, suppliers, warehouses, and purchase orders.</a:t>
            </a:r>
          </a:p>
          <a:p>
            <a:pPr lvl="0"/>
            <a:r>
              <a:rPr lang="en-IN" sz="2400" dirty="0">
                <a:latin typeface="+mn-lt"/>
              </a:rPr>
              <a:t>React.js </a:t>
            </a:r>
            <a:r>
              <a:rPr lang="en-IN" sz="2400" b="0" dirty="0">
                <a:latin typeface="+mn-lt"/>
              </a:rPr>
              <a:t>– used to build the interactive frontend and operational dashboards.</a:t>
            </a:r>
          </a:p>
          <a:p>
            <a:pPr lvl="0"/>
            <a:r>
              <a:rPr lang="en-IN" sz="2400" dirty="0">
                <a:latin typeface="+mn-lt"/>
              </a:rPr>
              <a:t>Fast API</a:t>
            </a:r>
            <a:r>
              <a:rPr lang="en-IN" sz="2400" b="0" dirty="0">
                <a:latin typeface="+mn-lt"/>
              </a:rPr>
              <a:t> – used for backend APIs, business logic, procurement workflows, and shipment operations.</a:t>
            </a:r>
          </a:p>
          <a:p>
            <a:pPr lvl="0"/>
            <a:r>
              <a:rPr lang="en-IN" sz="2400" dirty="0">
                <a:latin typeface="+mn-lt"/>
              </a:rPr>
              <a:t>PostgreSQL</a:t>
            </a:r>
            <a:r>
              <a:rPr lang="en-IN" sz="2400" b="0" dirty="0">
                <a:latin typeface="+mn-lt"/>
              </a:rPr>
              <a:t> – used to store and manage supply chain, inventory, supplier, vehicle, and purchase order data.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4032355" y="57036"/>
            <a:ext cx="81596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Intelligent Supply Chain Management Platform for Electric Vehicle Manufacturing</a:t>
            </a:r>
          </a:p>
          <a:p>
            <a:pPr algn="r"/>
            <a:endParaRPr lang="en-US" dirty="0"/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811086" cy="4142989"/>
          </a:xfrm>
        </p:spPr>
        <p:txBody>
          <a:bodyPr/>
          <a:lstStyle/>
          <a:p>
            <a:pPr lvl="0" algn="just"/>
            <a:r>
              <a:rPr lang="en-IN" sz="2400" b="0" dirty="0">
                <a:latin typeface="+mn-lt"/>
              </a:rPr>
              <a:t>The platform successfully integrates inventory, supplier, procurement, purchase order, and shipment management into a single system.</a:t>
            </a:r>
          </a:p>
          <a:p>
            <a:pPr lvl="0" algn="just"/>
            <a:r>
              <a:rPr lang="en-IN" sz="2400" b="0" dirty="0">
                <a:latin typeface="+mn-lt"/>
              </a:rPr>
              <a:t>XGBoost enables effective supplier risk prediction, helping identify suppliers with higher operational risk.</a:t>
            </a:r>
          </a:p>
          <a:p>
            <a:pPr lvl="0" algn="just"/>
            <a:r>
              <a:rPr lang="en-IN" sz="2400" b="0" dirty="0">
                <a:latin typeface="+mn-lt"/>
              </a:rPr>
              <a:t>Multi-criteria analysis provides structured supplier ranking and procurement recommendations based on price, quality, reliability, lead time, availability, and risk.</a:t>
            </a:r>
          </a:p>
          <a:p>
            <a:pPr lvl="0" algn="just"/>
            <a:r>
              <a:rPr lang="en-IN" sz="2400" b="0" dirty="0">
                <a:latin typeface="+mn-lt"/>
              </a:rPr>
              <a:t>Graph-RAG successfully connects and analyses relationships among vehicles, components, suppliers, warehouses, and purchase orders.</a:t>
            </a:r>
          </a:p>
          <a:p>
            <a:pPr lvl="0" algn="just"/>
            <a:r>
              <a:rPr lang="en-IN" sz="2400" b="0" dirty="0">
                <a:latin typeface="+mn-lt"/>
              </a:rPr>
              <a:t>The shipment module supports stage-wise purchase order tracking from order placement to warehouse receipt.</a:t>
            </a:r>
          </a:p>
          <a:p>
            <a:pPr lvl="0" algn="just"/>
            <a:r>
              <a:rPr lang="en-IN" sz="2400" b="0" dirty="0">
                <a:latin typeface="+mn-lt"/>
              </a:rPr>
              <a:t>Overall, the system demonstrates improved automation, decision support, and efficiency for EV supply chain management.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4047345" y="57036"/>
            <a:ext cx="81446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Intelligent Supply Chain Management Platform for Electric Vehicle Manufacturing</a:t>
            </a:r>
          </a:p>
          <a:p>
            <a:pPr algn="r"/>
            <a:endParaRPr lang="en-US" dirty="0"/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751125" cy="4142989"/>
          </a:xfrm>
        </p:spPr>
        <p:txBody>
          <a:bodyPr/>
          <a:lstStyle/>
          <a:p>
            <a:pPr marL="0" indent="0" algn="just">
              <a:buNone/>
            </a:pPr>
            <a:endParaRPr lang="en-IN" sz="2400" b="0" dirty="0">
              <a:latin typeface="+mn-lt"/>
            </a:endParaRPr>
          </a:p>
          <a:p>
            <a:pPr algn="just"/>
            <a:r>
              <a:rPr lang="en-IN" sz="2400" b="0" dirty="0">
                <a:latin typeface="+mn-lt"/>
              </a:rPr>
              <a:t>EVFlow integrates AI-driven supplier risk prediction, multi-criteria procurement analysis, Graph-RAG intelligence, inventory management, and shipment tracking to improve efficiency and decision-making across the EV manufacturing supply chain.</a:t>
            </a: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Conclusion…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4152275" y="57036"/>
            <a:ext cx="80397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Intelligent Supply Chain Management Platform for Electric Vehicle Manufacturing</a:t>
            </a:r>
          </a:p>
          <a:p>
            <a:pPr algn="r"/>
            <a:endParaRPr lang="en-US" dirty="0"/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6F40-96CC-DEF8-9EB7-14523723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03C842-0779-BE44-EECA-2F2EE3FA73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661184" cy="4142989"/>
          </a:xfrm>
        </p:spPr>
        <p:txBody>
          <a:bodyPr/>
          <a:lstStyle/>
          <a:p>
            <a:pPr marL="0" indent="0" algn="just">
              <a:buNone/>
            </a:pPr>
            <a:r>
              <a:rPr lang="en-IN" sz="2400" b="0" dirty="0">
                <a:latin typeface="+mn-lt"/>
              </a:rPr>
              <a:t>I would like to express my sincere gratitude to my guide, department, and institution for their valuable guidance, encouragement, and support throughout the development of this individual project, </a:t>
            </a:r>
            <a:r>
              <a:rPr lang="en-IN" sz="2400" dirty="0">
                <a:latin typeface="+mn-lt"/>
              </a:rPr>
              <a:t>EVFlow – Intelligent Supply Chain Management Platform for Electric Vehicle Manufacturing.</a:t>
            </a:r>
            <a:endParaRPr lang="en-US" sz="240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DE408-8E1E-6FA2-7CC4-7953936B171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Acknowledgement …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AC8EE7-5ED3-D96C-9268-8B7B9A5D057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6C5A91-6D8B-7A46-6BA9-7AF0BB8742E7}"/>
              </a:ext>
            </a:extLst>
          </p:cNvPr>
          <p:cNvSpPr txBox="1"/>
          <p:nvPr/>
        </p:nvSpPr>
        <p:spPr>
          <a:xfrm>
            <a:off x="5441431" y="57036"/>
            <a:ext cx="67505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Intelligent Supply Chain Management Platform for Electric Vehicle Manufacturing</a:t>
            </a:r>
          </a:p>
          <a:p>
            <a:pPr algn="r"/>
            <a:endParaRPr lang="en-US" dirty="0"/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488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E11D5E-73A6-DACE-A314-51CBCF3D3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826076" cy="4142989"/>
          </a:xfrm>
        </p:spPr>
        <p:txBody>
          <a:bodyPr/>
          <a:lstStyle/>
          <a:p>
            <a:pPr lvl="0" algn="just"/>
            <a:r>
              <a:rPr lang="en-IN" sz="2400" dirty="0">
                <a:latin typeface="+mn-lt"/>
              </a:rPr>
              <a:t>XGBoost Documentation </a:t>
            </a:r>
            <a:r>
              <a:rPr lang="en-IN" sz="2400" b="0" dirty="0">
                <a:latin typeface="+mn-lt"/>
              </a:rPr>
              <a:t>– Machine Learning for supplier risk prediction</a:t>
            </a:r>
          </a:p>
          <a:p>
            <a:pPr lvl="0" algn="just"/>
            <a:r>
              <a:rPr lang="en-IN" sz="2400" dirty="0">
                <a:latin typeface="+mn-lt"/>
              </a:rPr>
              <a:t>Fast API Documentation </a:t>
            </a:r>
            <a:r>
              <a:rPr lang="en-IN" sz="2400" b="0" dirty="0">
                <a:latin typeface="+mn-lt"/>
              </a:rPr>
              <a:t>– Backend API development</a:t>
            </a:r>
          </a:p>
          <a:p>
            <a:pPr lvl="0" algn="just"/>
            <a:r>
              <a:rPr lang="en-IN" sz="2400" dirty="0">
                <a:latin typeface="+mn-lt"/>
              </a:rPr>
              <a:t>React.js Documentation </a:t>
            </a:r>
            <a:r>
              <a:rPr lang="en-IN" sz="2400" b="0" dirty="0">
                <a:latin typeface="+mn-lt"/>
              </a:rPr>
              <a:t>– Frontend development</a:t>
            </a:r>
          </a:p>
          <a:p>
            <a:pPr lvl="0" algn="just"/>
            <a:r>
              <a:rPr lang="en-IN" sz="2400" dirty="0">
                <a:latin typeface="+mn-lt"/>
              </a:rPr>
              <a:t>PostgreSQL Documentation </a:t>
            </a:r>
            <a:r>
              <a:rPr lang="en-IN" sz="2400" b="0" dirty="0">
                <a:latin typeface="+mn-lt"/>
              </a:rPr>
              <a:t>– Database management</a:t>
            </a:r>
          </a:p>
          <a:p>
            <a:pPr lvl="0" algn="just"/>
            <a:r>
              <a:rPr lang="en-IN" sz="2400" dirty="0">
                <a:latin typeface="+mn-lt"/>
              </a:rPr>
              <a:t>Neo4j / Graph-RAG concepts </a:t>
            </a:r>
            <a:r>
              <a:rPr lang="en-IN" sz="2400" b="0" dirty="0">
                <a:latin typeface="+mn-lt"/>
              </a:rPr>
              <a:t>– Supply chain relationship analysis and intelligent querying</a:t>
            </a:r>
          </a:p>
          <a:p>
            <a:pPr lvl="0" algn="just"/>
            <a:r>
              <a:rPr lang="en-IN" sz="2400" b="0" dirty="0">
                <a:latin typeface="+mn-lt"/>
              </a:rPr>
              <a:t>Research articles on AI-based supplier evaluation, multi-criteria decision-making, and intelligent supply chain management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Reference…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4017365" y="57036"/>
            <a:ext cx="81746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Intelligent Supply Chain Management Platform for Electric Vehicle Manufacturing</a:t>
            </a:r>
          </a:p>
          <a:p>
            <a:pPr algn="r"/>
            <a:endParaRPr lang="en-US" dirty="0"/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89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</TotalTime>
  <Words>1135</Words>
  <Application>Microsoft Office PowerPoint</Application>
  <PresentationFormat>Widescreen</PresentationFormat>
  <Paragraphs>112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GohilRadha Maheshbhai</cp:lastModifiedBy>
  <cp:revision>21</cp:revision>
  <dcterms:created xsi:type="dcterms:W3CDTF">2024-05-13T10:33:11Z</dcterms:created>
  <dcterms:modified xsi:type="dcterms:W3CDTF">2026-10-08T04:51:25Z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