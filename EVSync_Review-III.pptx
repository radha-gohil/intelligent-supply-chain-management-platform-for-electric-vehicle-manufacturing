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87" r:id="rId4"/>
    <p:sldId id="2147470493" r:id="rId5"/>
    <p:sldId id="2147470494" r:id="rId6"/>
    <p:sldId id="2147470505" r:id="rId7"/>
    <p:sldId id="2147470515" r:id="rId8"/>
    <p:sldId id="2147470498" r:id="rId9"/>
    <p:sldId id="2147470497" r:id="rId10"/>
    <p:sldId id="2147470503" r:id="rId11"/>
    <p:sldId id="2147470506" r:id="rId12"/>
    <p:sldId id="2147470507" r:id="rId13"/>
    <p:sldId id="2147470508" r:id="rId14"/>
    <p:sldId id="2147470516" r:id="rId15"/>
    <p:sldId id="2147470512" r:id="rId16"/>
    <p:sldId id="2147470513" r:id="rId17"/>
    <p:sldId id="214747051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Electric Vehicle Manufacturing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NAME: RADHA GOHIL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T10002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CCA5CD2-B055-9613-0BCC-4FF41EE92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" y="5873783"/>
            <a:ext cx="2477501" cy="96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Introduction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1479" y="1371600"/>
            <a:ext cx="11436809" cy="4480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228600" indent="-228600" algn="just">
              <a:spcBef>
                <a:spcPts val="0"/>
              </a:spcBef>
              <a:spcAft>
                <a:spcPts val="12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62626"/>
                </a:solidFill>
                <a:latin typeface="+mn-lt"/>
                <a:cs typeface="Calibri"/>
              </a:rPr>
              <a:t>EV</a:t>
            </a:r>
            <a:r>
              <a:rPr lang="en-US" sz="2000" dirty="0">
                <a:solidFill>
                  <a:srgbClr val="262626"/>
                </a:solidFill>
                <a:cs typeface="Calibri"/>
              </a:rPr>
              <a:t>Flow</a:t>
            </a:r>
            <a:r>
              <a:rPr lang="en-US" sz="2000" b="0" i="0" dirty="0">
                <a:solidFill>
                  <a:srgbClr val="262626"/>
                </a:solidFill>
                <a:latin typeface="+mn-lt"/>
                <a:cs typeface="Calibri"/>
              </a:rPr>
              <a:t> is an AI-powered supply chain management platform for electric vehicle manufacturing.</a:t>
            </a:r>
          </a:p>
          <a:p>
            <a:pPr marL="228600" indent="-228600" algn="just">
              <a:spcBef>
                <a:spcPts val="0"/>
              </a:spcBef>
              <a:spcAft>
                <a:spcPts val="12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62626"/>
                </a:solidFill>
                <a:latin typeface="+mn-lt"/>
                <a:cs typeface="Calibri"/>
              </a:rPr>
              <a:t>It unifies inventory, supplier evaluation, procurement planning, purchase orders and shipment tracking in one application.</a:t>
            </a:r>
          </a:p>
          <a:p>
            <a:pPr marL="228600" indent="-228600" algn="just">
              <a:spcBef>
                <a:spcPts val="0"/>
              </a:spcBef>
              <a:spcAft>
                <a:spcPts val="12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62626"/>
                </a:solidFill>
                <a:latin typeface="+mn-lt"/>
                <a:cs typeface="Calibri"/>
              </a:rPr>
              <a:t>It helps decide which components to procure, which suppliers to select and how much inventory to hold.</a:t>
            </a:r>
          </a:p>
          <a:p>
            <a:pPr marL="228600" indent="-228600" algn="just">
              <a:spcBef>
                <a:spcPts val="0"/>
              </a:spcBef>
              <a:spcAft>
                <a:spcPts val="12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62626"/>
                </a:solidFill>
                <a:latin typeface="+mn-lt"/>
                <a:cs typeface="Calibri"/>
              </a:rPr>
              <a:t>XGBoost estimates supplier risk, multi-criteria analysis ranks suppliers, and Graph-RAG explains supply chain relationships.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Objectives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Objective 11"/>
          <p:cNvSpPr/>
          <p:nvPr/>
        </p:nvSpPr>
        <p:spPr>
          <a:xfrm>
            <a:off x="1806690" y="153162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82880" tIns="91440" rIns="18288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2E8B9A"/>
                </a:solidFill>
                <a:latin typeface="+mn-lt"/>
                <a:cs typeface="Calibri"/>
              </a:rPr>
              <a:t>01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100" b="1" i="0" dirty="0">
                <a:solidFill>
                  <a:srgbClr val="1F4E79"/>
                </a:solidFill>
                <a:latin typeface="+mn-lt"/>
                <a:cs typeface="Calibri"/>
              </a:rPr>
              <a:t>Integrate operations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Combine inventory, suppliers, procurement, purchase orders and shipments.</a:t>
            </a:r>
          </a:p>
        </p:txBody>
      </p:sp>
      <p:sp>
        <p:nvSpPr>
          <p:cNvPr id="13" name="Objective 13"/>
          <p:cNvSpPr/>
          <p:nvPr/>
        </p:nvSpPr>
        <p:spPr>
          <a:xfrm>
            <a:off x="6094476" y="141732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82880" tIns="91440" rIns="18288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2E8B9A"/>
                </a:solidFill>
                <a:latin typeface="+mn-lt"/>
                <a:cs typeface="Calibri"/>
              </a:rPr>
              <a:t>02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100" b="1" i="0" dirty="0">
                <a:solidFill>
                  <a:srgbClr val="1F4E79"/>
                </a:solidFill>
                <a:latin typeface="+mn-lt"/>
                <a:cs typeface="Calibri"/>
              </a:rPr>
              <a:t>Predict supplier risk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Use XGBoost on historical delivery, quality and reliability data.</a:t>
            </a:r>
          </a:p>
        </p:txBody>
      </p:sp>
      <p:sp>
        <p:nvSpPr>
          <p:cNvPr id="14" name="Objective 14"/>
          <p:cNvSpPr/>
          <p:nvPr/>
        </p:nvSpPr>
        <p:spPr>
          <a:xfrm>
            <a:off x="411480" y="370332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82880" tIns="91440" rIns="18288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2E8B9A"/>
                </a:solidFill>
                <a:latin typeface="+mn-lt"/>
                <a:cs typeface="Calibri"/>
              </a:rPr>
              <a:t>03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100" b="1" i="0" dirty="0">
                <a:solidFill>
                  <a:srgbClr val="1F4E79"/>
                </a:solidFill>
                <a:latin typeface="+mn-lt"/>
                <a:cs typeface="Calibri"/>
              </a:rPr>
              <a:t>Rank suppliers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Compare price, lead time, reliability, quality, availability and risk.</a:t>
            </a:r>
          </a:p>
        </p:txBody>
      </p:sp>
      <p:sp>
        <p:nvSpPr>
          <p:cNvPr id="15" name="Objective 15"/>
          <p:cNvSpPr/>
          <p:nvPr/>
        </p:nvSpPr>
        <p:spPr>
          <a:xfrm>
            <a:off x="4288536" y="370332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82880" tIns="91440" rIns="18288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2E8B9A"/>
                </a:solidFill>
                <a:latin typeface="+mn-lt"/>
                <a:cs typeface="Calibri"/>
              </a:rPr>
              <a:t>04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100" b="1" i="0" dirty="0">
                <a:solidFill>
                  <a:srgbClr val="1F4E79"/>
                </a:solidFill>
                <a:latin typeface="+mn-lt"/>
                <a:cs typeface="Calibri"/>
              </a:rPr>
              <a:t>Explain with Graph-RAG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Answer relationship questions grounded in supply chain data.</a:t>
            </a:r>
          </a:p>
        </p:txBody>
      </p:sp>
      <p:sp>
        <p:nvSpPr>
          <p:cNvPr id="16" name="Objective 16"/>
          <p:cNvSpPr/>
          <p:nvPr/>
        </p:nvSpPr>
        <p:spPr>
          <a:xfrm>
            <a:off x="8165592" y="370332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82880" tIns="91440" rIns="18288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2E8B9A"/>
                </a:solidFill>
                <a:latin typeface="+mn-lt"/>
                <a:cs typeface="Calibri"/>
              </a:rPr>
              <a:t>05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100" b="1" i="0" dirty="0">
                <a:solidFill>
                  <a:srgbClr val="1F4E79"/>
                </a:solidFill>
                <a:latin typeface="+mn-lt"/>
                <a:cs typeface="Calibri"/>
              </a:rPr>
              <a:t>Support decisions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Reduce shortages and delays with data-driven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Problem Statement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Card 11"/>
          <p:cNvSpPr/>
          <p:nvPr/>
        </p:nvSpPr>
        <p:spPr>
          <a:xfrm>
            <a:off x="411480" y="1417320"/>
            <a:ext cx="5577840" cy="402336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>
            <a:noFill/>
          </a:ln>
        </p:spPr>
        <p:txBody>
          <a:bodyPr wrap="square" lIns="137160" tIns="91440" rIns="137160" bIns="73152" rtlCol="0" anchor="t"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000" b="1" i="0" dirty="0">
                <a:solidFill>
                  <a:srgbClr val="C55A11"/>
                </a:solidFill>
                <a:latin typeface="+mn-lt"/>
                <a:cs typeface="Calibri"/>
              </a:rPr>
              <a:t>Supply chain challenges</a:t>
            </a:r>
          </a:p>
          <a:p>
            <a:pPr marL="228600" indent="-228600" algn="just">
              <a:spcBef>
                <a:spcPts val="0"/>
              </a:spcBef>
              <a:spcAft>
                <a:spcPts val="7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Many components, suppliers and warehouses to coordinate</a:t>
            </a:r>
          </a:p>
          <a:p>
            <a:pPr marL="228600" indent="-228600" algn="just">
              <a:spcBef>
                <a:spcPts val="0"/>
              </a:spcBef>
              <a:spcAft>
                <a:spcPts val="7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Supplier selection is slow and difficult across multiple suppliers</a:t>
            </a:r>
          </a:p>
          <a:p>
            <a:pPr marL="228600" indent="-228600" algn="just">
              <a:spcBef>
                <a:spcPts val="0"/>
              </a:spcBef>
              <a:spcAft>
                <a:spcPts val="7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Manual evaluation gives inconsistent ranking and poor sourcing</a:t>
            </a:r>
          </a:p>
          <a:p>
            <a:pPr marL="228600" indent="-228600" algn="just">
              <a:spcBef>
                <a:spcPts val="0"/>
              </a:spcBef>
              <a:spcAft>
                <a:spcPts val="7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Late orders, shipments or stock shortages disrupt production</a:t>
            </a:r>
          </a:p>
          <a:p>
            <a:pPr marL="228600" indent="-228600" algn="just">
              <a:spcBef>
                <a:spcPts val="0"/>
              </a:spcBef>
              <a:spcAft>
                <a:spcPts val="7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Cheapest-price selection ignores delivery and reliability risk</a:t>
            </a:r>
          </a:p>
        </p:txBody>
      </p:sp>
      <p:sp>
        <p:nvSpPr>
          <p:cNvPr id="12" name="Card 12"/>
          <p:cNvSpPr/>
          <p:nvPr/>
        </p:nvSpPr>
        <p:spPr>
          <a:xfrm>
            <a:off x="6199632" y="1417320"/>
            <a:ext cx="5577840" cy="4023360"/>
          </a:xfrm>
          <a:prstGeom prst="roundRect">
            <a:avLst>
              <a:gd name="adj" fmla="val 6000"/>
            </a:avLst>
          </a:prstGeom>
          <a:solidFill>
            <a:srgbClr val="E9F4E4"/>
          </a:solidFill>
          <a:ln>
            <a:noFill/>
          </a:ln>
        </p:spPr>
        <p:txBody>
          <a:bodyPr wrap="square" lIns="137160" tIns="91440" rIns="137160" bIns="73152" rtlCol="0" anchor="t"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000" b="1" i="0" dirty="0">
                <a:solidFill>
                  <a:srgbClr val="548235"/>
                </a:solidFill>
                <a:latin typeface="+mn-lt"/>
                <a:cs typeface="Calibri"/>
              </a:rPr>
              <a:t>What the platform provides</a:t>
            </a:r>
          </a:p>
          <a:p>
            <a:pPr marL="228600" indent="-228600" algn="just">
              <a:spcBef>
                <a:spcPts val="0"/>
              </a:spcBef>
              <a:spcAft>
                <a:spcPts val="7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One integrated system for inventory, suppliers, orders and shipments</a:t>
            </a:r>
          </a:p>
          <a:p>
            <a:pPr marL="228600" indent="-228600" algn="just">
              <a:spcBef>
                <a:spcPts val="0"/>
              </a:spcBef>
              <a:spcAft>
                <a:spcPts val="7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XGBoost supplier risk prediction</a:t>
            </a:r>
          </a:p>
          <a:p>
            <a:pPr marL="228600" indent="-228600" algn="just">
              <a:spcBef>
                <a:spcPts val="0"/>
              </a:spcBef>
              <a:spcAft>
                <a:spcPts val="7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Multi-criteria supplier ranking and recommendation</a:t>
            </a:r>
          </a:p>
          <a:p>
            <a:pPr marL="228600" indent="-228600" algn="just">
              <a:spcBef>
                <a:spcPts val="0"/>
              </a:spcBef>
              <a:spcAft>
                <a:spcPts val="7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Graph-RAG explanations of supplier and component relationships</a:t>
            </a:r>
          </a:p>
          <a:p>
            <a:pPr marL="228600" indent="-228600" algn="just">
              <a:spcBef>
                <a:spcPts val="0"/>
              </a:spcBef>
              <a:spcAft>
                <a:spcPts val="7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62626"/>
                </a:solidFill>
                <a:latin typeface="+mn-lt"/>
                <a:cs typeface="Calibri"/>
              </a:rPr>
              <a:t>Fewer shortages, supplier risks and procurement delays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Technology Stack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Stack 11"/>
          <p:cNvSpPr/>
          <p:nvPr/>
        </p:nvSpPr>
        <p:spPr>
          <a:xfrm>
            <a:off x="411480" y="13716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LANGUAGE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Python</a:t>
            </a:r>
          </a:p>
        </p:txBody>
      </p:sp>
      <p:sp>
        <p:nvSpPr>
          <p:cNvPr id="12" name="Stack 12"/>
          <p:cNvSpPr/>
          <p:nvPr/>
        </p:nvSpPr>
        <p:spPr>
          <a:xfrm>
            <a:off x="3300984" y="13716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API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FastAPI REST services</a:t>
            </a:r>
          </a:p>
        </p:txBody>
      </p:sp>
      <p:sp>
        <p:nvSpPr>
          <p:cNvPr id="13" name="Stack 13"/>
          <p:cNvSpPr/>
          <p:nvPr/>
        </p:nvSpPr>
        <p:spPr>
          <a:xfrm>
            <a:off x="6190488" y="13716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DATABASE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PostgreSQL</a:t>
            </a:r>
          </a:p>
        </p:txBody>
      </p:sp>
      <p:sp>
        <p:nvSpPr>
          <p:cNvPr id="14" name="Stack 14"/>
          <p:cNvSpPr/>
          <p:nvPr/>
        </p:nvSpPr>
        <p:spPr>
          <a:xfrm>
            <a:off x="9079992" y="13716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ORM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SQLAlchemy models</a:t>
            </a:r>
          </a:p>
        </p:txBody>
      </p:sp>
      <p:sp>
        <p:nvSpPr>
          <p:cNvPr id="15" name="Stack 15"/>
          <p:cNvSpPr/>
          <p:nvPr/>
        </p:nvSpPr>
        <p:spPr>
          <a:xfrm>
            <a:off x="411480" y="288036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FRONTEND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React.js</a:t>
            </a:r>
          </a:p>
        </p:txBody>
      </p:sp>
      <p:sp>
        <p:nvSpPr>
          <p:cNvPr id="16" name="Stack 16"/>
          <p:cNvSpPr/>
          <p:nvPr/>
        </p:nvSpPr>
        <p:spPr>
          <a:xfrm>
            <a:off x="3300984" y="288036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UI COMPONENTS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Material UI</a:t>
            </a:r>
          </a:p>
        </p:txBody>
      </p:sp>
      <p:sp>
        <p:nvSpPr>
          <p:cNvPr id="17" name="Stack 17"/>
          <p:cNvSpPr/>
          <p:nvPr/>
        </p:nvSpPr>
        <p:spPr>
          <a:xfrm>
            <a:off x="6190488" y="288036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API CLIENT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Axios</a:t>
            </a:r>
          </a:p>
        </p:txBody>
      </p:sp>
      <p:sp>
        <p:nvSpPr>
          <p:cNvPr id="18" name="Stack 18"/>
          <p:cNvSpPr/>
          <p:nvPr/>
        </p:nvSpPr>
        <p:spPr>
          <a:xfrm>
            <a:off x="9079992" y="288036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RISK PREDICTION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XGBoost</a:t>
            </a:r>
          </a:p>
        </p:txBody>
      </p:sp>
      <p:sp>
        <p:nvSpPr>
          <p:cNvPr id="19" name="Stack 19"/>
          <p:cNvSpPr/>
          <p:nvPr/>
        </p:nvSpPr>
        <p:spPr>
          <a:xfrm>
            <a:off x="411480" y="43891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RANKING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Multi-Criteria Decision Analysis</a:t>
            </a:r>
          </a:p>
        </p:txBody>
      </p:sp>
      <p:sp>
        <p:nvSpPr>
          <p:cNvPr id="20" name="Stack 20"/>
          <p:cNvSpPr/>
          <p:nvPr/>
        </p:nvSpPr>
        <p:spPr>
          <a:xfrm>
            <a:off x="3300984" y="43891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INTELLIGENCE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Graph-RAG with LLM</a:t>
            </a:r>
          </a:p>
        </p:txBody>
      </p:sp>
      <p:sp>
        <p:nvSpPr>
          <p:cNvPr id="21" name="Stack 21"/>
          <p:cNvSpPr/>
          <p:nvPr/>
        </p:nvSpPr>
        <p:spPr>
          <a:xfrm>
            <a:off x="6190488" y="43891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ACCESS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Sign-in UI and notifications</a:t>
            </a:r>
          </a:p>
        </p:txBody>
      </p:sp>
      <p:sp>
        <p:nvSpPr>
          <p:cNvPr id="22" name="Stack 22"/>
          <p:cNvSpPr/>
          <p:nvPr/>
        </p:nvSpPr>
        <p:spPr>
          <a:xfrm>
            <a:off x="9079992" y="43891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 dirty="0">
                <a:solidFill>
                  <a:srgbClr val="2E8B9A"/>
                </a:solidFill>
                <a:latin typeface="+mn-lt"/>
                <a:cs typeface="Calibri"/>
              </a:rPr>
              <a:t>VERSION CONTROL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Git and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System Architecture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Stage Header 11"/>
          <p:cNvSpPr/>
          <p:nvPr/>
        </p:nvSpPr>
        <p:spPr>
          <a:xfrm>
            <a:off x="411480" y="1371600"/>
            <a:ext cx="2514600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  <a:cs typeface="Calibri"/>
              </a:rPr>
              <a:t>Data Layer</a:t>
            </a:r>
          </a:p>
        </p:txBody>
      </p:sp>
      <p:sp>
        <p:nvSpPr>
          <p:cNvPr id="12" name="Stage Body 12"/>
          <p:cNvSpPr/>
          <p:nvPr/>
        </p:nvSpPr>
        <p:spPr>
          <a:xfrm>
            <a:off x="411480" y="1810512"/>
            <a:ext cx="2514600" cy="1371600"/>
          </a:xfrm>
          <a:prstGeom prst="rect">
            <a:avLst/>
          </a:prstGeom>
          <a:solidFill>
            <a:srgbClr val="EAF3FB"/>
          </a:solidFill>
          <a:ln w="12700">
            <a:solidFill>
              <a:srgbClr val="BFD3E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Components, suppliers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Inventory, vehicles, BOM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Orders, shipments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2926080" y="2057400"/>
            <a:ext cx="435864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14" name="Stage Header 14"/>
          <p:cNvSpPr/>
          <p:nvPr/>
        </p:nvSpPr>
        <p:spPr>
          <a:xfrm>
            <a:off x="3361944" y="1371600"/>
            <a:ext cx="2514600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  <a:cs typeface="Calibri"/>
              </a:rPr>
              <a:t>PostgreSQL Database</a:t>
            </a:r>
          </a:p>
        </p:txBody>
      </p:sp>
      <p:sp>
        <p:nvSpPr>
          <p:cNvPr id="15" name="Stage Body 15"/>
          <p:cNvSpPr/>
          <p:nvPr/>
        </p:nvSpPr>
        <p:spPr>
          <a:xfrm>
            <a:off x="3361944" y="1810512"/>
            <a:ext cx="2514600" cy="1371600"/>
          </a:xfrm>
          <a:prstGeom prst="rect">
            <a:avLst/>
          </a:prstGeom>
          <a:solidFill>
            <a:srgbClr val="EAF3FB"/>
          </a:solidFill>
          <a:ln w="12700">
            <a:solidFill>
              <a:srgbClr val="BFD3E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Relational storage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Data validation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Transactions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5876544" y="2057400"/>
            <a:ext cx="435864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17" name="Stage Header 17"/>
          <p:cNvSpPr/>
          <p:nvPr/>
        </p:nvSpPr>
        <p:spPr>
          <a:xfrm>
            <a:off x="6312408" y="1371600"/>
            <a:ext cx="2514600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  <a:cs typeface="Calibri"/>
              </a:rPr>
              <a:t>FastAPI Backend</a:t>
            </a:r>
          </a:p>
        </p:txBody>
      </p:sp>
      <p:sp>
        <p:nvSpPr>
          <p:cNvPr id="18" name="Stage Body 18"/>
          <p:cNvSpPr/>
          <p:nvPr/>
        </p:nvSpPr>
        <p:spPr>
          <a:xfrm>
            <a:off x="6312408" y="1810512"/>
            <a:ext cx="2514600" cy="1371600"/>
          </a:xfrm>
          <a:prstGeom prst="rect">
            <a:avLst/>
          </a:prstGeom>
          <a:solidFill>
            <a:srgbClr val="EAF3FB"/>
          </a:solidFill>
          <a:ln w="12700">
            <a:solidFill>
              <a:srgbClr val="BFD3E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REST APIs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Business logic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Analytics, procurement</a:t>
            </a:r>
          </a:p>
        </p:txBody>
      </p:sp>
      <p:cxnSp>
        <p:nvCxnSpPr>
          <p:cNvPr id="19" name="Connector 19"/>
          <p:cNvCxnSpPr/>
          <p:nvPr/>
        </p:nvCxnSpPr>
        <p:spPr>
          <a:xfrm>
            <a:off x="8827008" y="2057400"/>
            <a:ext cx="435864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0" name="Stage Header 20"/>
          <p:cNvSpPr/>
          <p:nvPr/>
        </p:nvSpPr>
        <p:spPr>
          <a:xfrm>
            <a:off x="9262872" y="1371600"/>
            <a:ext cx="2514600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  <a:cs typeface="Calibri"/>
              </a:rPr>
              <a:t>AI Intelligence</a:t>
            </a:r>
          </a:p>
        </p:txBody>
      </p:sp>
      <p:sp>
        <p:nvSpPr>
          <p:cNvPr id="21" name="Stage Body 21"/>
          <p:cNvSpPr/>
          <p:nvPr/>
        </p:nvSpPr>
        <p:spPr>
          <a:xfrm>
            <a:off x="9262872" y="1810512"/>
            <a:ext cx="2514600" cy="1371600"/>
          </a:xfrm>
          <a:prstGeom prst="rect">
            <a:avLst/>
          </a:prstGeom>
          <a:solidFill>
            <a:srgbClr val="EAF3FB"/>
          </a:solidFill>
          <a:ln w="12700">
            <a:solidFill>
              <a:srgbClr val="BFD3E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XGBoost risk prediction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Supplier ranking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Graph-RAG</a:t>
            </a:r>
          </a:p>
        </p:txBody>
      </p:sp>
      <p:sp>
        <p:nvSpPr>
          <p:cNvPr id="22" name="Stage Header 22"/>
          <p:cNvSpPr/>
          <p:nvPr/>
        </p:nvSpPr>
        <p:spPr>
          <a:xfrm>
            <a:off x="411480" y="3794760"/>
            <a:ext cx="2514600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  <a:cs typeface="Calibri"/>
              </a:rPr>
              <a:t>Business Workflows</a:t>
            </a:r>
          </a:p>
        </p:txBody>
      </p:sp>
      <p:sp>
        <p:nvSpPr>
          <p:cNvPr id="23" name="Stage Body 23"/>
          <p:cNvSpPr/>
          <p:nvPr/>
        </p:nvSpPr>
        <p:spPr>
          <a:xfrm>
            <a:off x="411480" y="4233672"/>
            <a:ext cx="2514600" cy="1325880"/>
          </a:xfrm>
          <a:prstGeom prst="rect">
            <a:avLst/>
          </a:prstGeom>
          <a:solidFill>
            <a:srgbClr val="EAF3FB"/>
          </a:solidFill>
          <a:ln w="12700">
            <a:solidFill>
              <a:srgbClr val="BFD3E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Inventory, procurement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Purchase orders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Shipment tracking</a:t>
            </a:r>
          </a:p>
        </p:txBody>
      </p:sp>
      <p:cxnSp>
        <p:nvCxnSpPr>
          <p:cNvPr id="24" name="Connector 24"/>
          <p:cNvCxnSpPr/>
          <p:nvPr/>
        </p:nvCxnSpPr>
        <p:spPr>
          <a:xfrm>
            <a:off x="2926080" y="4480560"/>
            <a:ext cx="435864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5" name="Stage Header 25"/>
          <p:cNvSpPr/>
          <p:nvPr/>
        </p:nvSpPr>
        <p:spPr>
          <a:xfrm>
            <a:off x="3361944" y="3794760"/>
            <a:ext cx="2514600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  <a:cs typeface="Calibri"/>
              </a:rPr>
              <a:t>React + Material UI</a:t>
            </a:r>
          </a:p>
        </p:txBody>
      </p:sp>
      <p:sp>
        <p:nvSpPr>
          <p:cNvPr id="26" name="Stage Body 26"/>
          <p:cNvSpPr/>
          <p:nvPr/>
        </p:nvSpPr>
        <p:spPr>
          <a:xfrm>
            <a:off x="3361944" y="4233672"/>
            <a:ext cx="2514600" cy="1325880"/>
          </a:xfrm>
          <a:prstGeom prst="rect">
            <a:avLst/>
          </a:prstGeom>
          <a:solidFill>
            <a:srgbClr val="EAF3FB"/>
          </a:solidFill>
          <a:ln w="12700">
            <a:solidFill>
              <a:srgbClr val="BFD3E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Dashboard, Inventory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Suppliers, Procurement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Orders, AI Insights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5876544" y="4480560"/>
            <a:ext cx="435864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8" name="Stage Header 28"/>
          <p:cNvSpPr/>
          <p:nvPr/>
        </p:nvSpPr>
        <p:spPr>
          <a:xfrm>
            <a:off x="6312408" y="3794760"/>
            <a:ext cx="2514600" cy="43891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  <a:cs typeface="Calibri"/>
              </a:rPr>
              <a:t>Decision and Action</a:t>
            </a:r>
          </a:p>
        </p:txBody>
      </p:sp>
      <p:sp>
        <p:nvSpPr>
          <p:cNvPr id="29" name="Stage Body 29"/>
          <p:cNvSpPr/>
          <p:nvPr/>
        </p:nvSpPr>
        <p:spPr>
          <a:xfrm>
            <a:off x="6312408" y="4233672"/>
            <a:ext cx="2514600" cy="1325880"/>
          </a:xfrm>
          <a:prstGeom prst="rect">
            <a:avLst/>
          </a:prstGeom>
          <a:solidFill>
            <a:srgbClr val="E9F4E4"/>
          </a:solidFill>
          <a:ln w="12700">
            <a:solidFill>
              <a:srgbClr val="BFD3E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Select supplier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Create purchase order</a:t>
            </a:r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+mn-lt"/>
                <a:cs typeface="Calibri"/>
              </a:rPr>
              <a:t>Track delivery, update stock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10520172" y="3182112"/>
            <a:ext cx="0" cy="301752"/>
          </a:xfrm>
          <a:prstGeom prst="line">
            <a:avLst/>
          </a:prstGeom>
          <a:ln w="25400">
            <a:solidFill>
              <a:srgbClr val="2E8B9A"/>
            </a:solidFill>
          </a:ln>
        </p:spPr>
      </p:cxnSp>
      <p:cxnSp>
        <p:nvCxnSpPr>
          <p:cNvPr id="31" name="Connector 31"/>
          <p:cNvCxnSpPr/>
          <p:nvPr/>
        </p:nvCxnSpPr>
        <p:spPr>
          <a:xfrm>
            <a:off x="1668780" y="3483864"/>
            <a:ext cx="8851392" cy="0"/>
          </a:xfrm>
          <a:prstGeom prst="line">
            <a:avLst/>
          </a:prstGeom>
          <a:ln w="25400">
            <a:solidFill>
              <a:srgbClr val="2E8B9A"/>
            </a:solidFill>
          </a:ln>
        </p:spPr>
      </p:cxnSp>
      <p:cxnSp>
        <p:nvCxnSpPr>
          <p:cNvPr id="32" name="Connector 32"/>
          <p:cNvCxnSpPr/>
          <p:nvPr/>
        </p:nvCxnSpPr>
        <p:spPr>
          <a:xfrm>
            <a:off x="1668780" y="3483864"/>
            <a:ext cx="0" cy="310896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33" name="TextBox 33"/>
          <p:cNvSpPr txBox="1"/>
          <p:nvPr/>
        </p:nvSpPr>
        <p:spPr>
          <a:xfrm>
            <a:off x="411480" y="5715000"/>
            <a:ext cx="11365992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595959"/>
                </a:solidFill>
                <a:latin typeface="+mn-lt"/>
                <a:cs typeface="Calibri"/>
              </a:rPr>
              <a:t>Intended end-to-end architecture; exact automation depends on the backend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Modules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Module Box 11"/>
          <p:cNvSpPr/>
          <p:nvPr/>
        </p:nvSpPr>
        <p:spPr>
          <a:xfrm>
            <a:off x="411480" y="1371600"/>
            <a:ext cx="5577840" cy="100584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endParaRPr lang="en-US"/>
          </a:p>
        </p:txBody>
      </p:sp>
      <p:sp>
        <p:nvSpPr>
          <p:cNvPr id="12" name="Number 12"/>
          <p:cNvSpPr/>
          <p:nvPr/>
        </p:nvSpPr>
        <p:spPr>
          <a:xfrm>
            <a:off x="594360" y="15544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4E79"/>
                </a:solidFill>
                <a:latin typeface="+mn-lt"/>
                <a:cs typeface="Calibri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1600" y="1463040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+mn-lt"/>
                <a:cs typeface="Calibri"/>
              </a:rPr>
              <a:t>BOM and Inventory Management</a:t>
            </a:r>
          </a:p>
        </p:txBody>
      </p:sp>
      <p:sp>
        <p:nvSpPr>
          <p:cNvPr id="14" name="Module Box 14"/>
          <p:cNvSpPr/>
          <p:nvPr/>
        </p:nvSpPr>
        <p:spPr>
          <a:xfrm>
            <a:off x="411480" y="2542032"/>
            <a:ext cx="5577840" cy="100584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endParaRPr lang="en-US"/>
          </a:p>
        </p:txBody>
      </p:sp>
      <p:sp>
        <p:nvSpPr>
          <p:cNvPr id="15" name="Number 15"/>
          <p:cNvSpPr/>
          <p:nvPr/>
        </p:nvSpPr>
        <p:spPr>
          <a:xfrm>
            <a:off x="594360" y="2724912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4E79"/>
                </a:solidFill>
                <a:latin typeface="+mn-lt"/>
                <a:cs typeface="Calibri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1600" y="2633472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+mn-lt"/>
                <a:cs typeface="Calibri"/>
              </a:rPr>
              <a:t>Supplier Evaluation</a:t>
            </a:r>
          </a:p>
        </p:txBody>
      </p:sp>
      <p:sp>
        <p:nvSpPr>
          <p:cNvPr id="23" name="Module Box 23"/>
          <p:cNvSpPr/>
          <p:nvPr/>
        </p:nvSpPr>
        <p:spPr>
          <a:xfrm>
            <a:off x="411480" y="3686393"/>
            <a:ext cx="5577840" cy="100584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endParaRPr lang="en-US"/>
          </a:p>
        </p:txBody>
      </p:sp>
      <p:sp>
        <p:nvSpPr>
          <p:cNvPr id="24" name="Number 24"/>
          <p:cNvSpPr/>
          <p:nvPr/>
        </p:nvSpPr>
        <p:spPr>
          <a:xfrm>
            <a:off x="667512" y="3911297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4E79"/>
                </a:solidFill>
                <a:latin typeface="+mn-lt"/>
                <a:cs typeface="Calibri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44752" y="3819857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+mn-lt"/>
                <a:cs typeface="Calibri"/>
              </a:rPr>
              <a:t>Procurement and Purchase Orders</a:t>
            </a:r>
          </a:p>
        </p:txBody>
      </p:sp>
      <p:sp>
        <p:nvSpPr>
          <p:cNvPr id="26" name="Module Box 26"/>
          <p:cNvSpPr/>
          <p:nvPr/>
        </p:nvSpPr>
        <p:spPr>
          <a:xfrm>
            <a:off x="6126480" y="1365299"/>
            <a:ext cx="5577840" cy="100584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endParaRPr lang="en-US"/>
          </a:p>
        </p:txBody>
      </p:sp>
      <p:sp>
        <p:nvSpPr>
          <p:cNvPr id="27" name="Number 27"/>
          <p:cNvSpPr/>
          <p:nvPr/>
        </p:nvSpPr>
        <p:spPr>
          <a:xfrm>
            <a:off x="6309360" y="1548179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4E79"/>
                </a:solidFill>
                <a:latin typeface="+mn-lt"/>
                <a:cs typeface="Calibri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86600" y="1456739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+mn-lt"/>
                <a:cs typeface="Calibri"/>
              </a:rPr>
              <a:t>Shipment Tracking and Simulation</a:t>
            </a:r>
          </a:p>
        </p:txBody>
      </p:sp>
      <p:sp>
        <p:nvSpPr>
          <p:cNvPr id="29" name="Module Box 29"/>
          <p:cNvSpPr/>
          <p:nvPr/>
        </p:nvSpPr>
        <p:spPr>
          <a:xfrm>
            <a:off x="6126480" y="2548335"/>
            <a:ext cx="5577840" cy="100584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endParaRPr lang="en-US"/>
          </a:p>
        </p:txBody>
      </p:sp>
      <p:sp>
        <p:nvSpPr>
          <p:cNvPr id="30" name="Number 30"/>
          <p:cNvSpPr/>
          <p:nvPr/>
        </p:nvSpPr>
        <p:spPr>
          <a:xfrm>
            <a:off x="6309360" y="2652463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4E79"/>
                </a:solidFill>
                <a:latin typeface="+mn-lt"/>
                <a:cs typeface="Calibri"/>
              </a:rPr>
              <a:t>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86600" y="2561023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+mn-lt"/>
                <a:cs typeface="Calibri"/>
              </a:rPr>
              <a:t>Goods Receipt and Inventory Update</a:t>
            </a:r>
          </a:p>
        </p:txBody>
      </p:sp>
      <p:sp>
        <p:nvSpPr>
          <p:cNvPr id="32" name="Module Box 32"/>
          <p:cNvSpPr/>
          <p:nvPr/>
        </p:nvSpPr>
        <p:spPr>
          <a:xfrm>
            <a:off x="6126480" y="3728417"/>
            <a:ext cx="5577840" cy="100584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endParaRPr lang="en-US"/>
          </a:p>
        </p:txBody>
      </p:sp>
      <p:sp>
        <p:nvSpPr>
          <p:cNvPr id="33" name="Number 33"/>
          <p:cNvSpPr/>
          <p:nvPr/>
        </p:nvSpPr>
        <p:spPr>
          <a:xfrm>
            <a:off x="6309360" y="3911297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4E79"/>
                </a:solidFill>
                <a:latin typeface="+mn-lt"/>
                <a:cs typeface="Calibri"/>
              </a:rPr>
              <a:t>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86600" y="3819857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+mn-lt"/>
                <a:cs typeface="Calibri"/>
              </a:rPr>
              <a:t>Graph-RAG Decision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BOM(</a:t>
            </a:r>
            <a:r>
              <a:rPr lang="en-US" sz="3600" dirty="0"/>
              <a:t>Bill of Materials</a:t>
            </a:r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) and Inventory Management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Card 11"/>
          <p:cNvSpPr/>
          <p:nvPr/>
        </p:nvSpPr>
        <p:spPr>
          <a:xfrm>
            <a:off x="411480" y="1371600"/>
            <a:ext cx="5760720" cy="452628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37160" bIns="7315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900" b="1" i="0" dirty="0">
                <a:solidFill>
                  <a:srgbClr val="1F4E79"/>
                </a:solidFill>
                <a:latin typeface="+mn-lt"/>
                <a:cs typeface="Calibri"/>
              </a:rPr>
              <a:t>BOM-driven requirement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i="0" dirty="0">
                <a:solidFill>
                  <a:srgbClr val="2E8B9A"/>
                </a:solidFill>
                <a:latin typeface="+mn-lt"/>
                <a:cs typeface="Calibri"/>
              </a:rPr>
              <a:t>Required = BOM quantity × production volume</a:t>
            </a:r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900" b="0" i="0" dirty="0">
                <a:solidFill>
                  <a:srgbClr val="262626"/>
                </a:solidFill>
                <a:latin typeface="+mn-lt"/>
                <a:cs typeface="Calibri"/>
              </a:rPr>
              <a:t>Brake assembly: 4 × 100 = 400 units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i="0" dirty="0">
                <a:solidFill>
                  <a:srgbClr val="2E8B9A"/>
                </a:solidFill>
                <a:latin typeface="+mn-lt"/>
                <a:cs typeface="Calibri"/>
              </a:rPr>
              <a:t>Net = max(0, Required − Available − Incoming)</a:t>
            </a:r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900" b="0" i="0" dirty="0">
                <a:solidFill>
                  <a:srgbClr val="262626"/>
                </a:solidFill>
                <a:latin typeface="+mn-lt"/>
                <a:cs typeface="Calibri"/>
              </a:rPr>
              <a:t>400 − 150 − 50 = 200 units to procure</a:t>
            </a:r>
          </a:p>
        </p:txBody>
      </p:sp>
      <p:sp>
        <p:nvSpPr>
          <p:cNvPr id="12" name="Card 12"/>
          <p:cNvSpPr/>
          <p:nvPr/>
        </p:nvSpPr>
        <p:spPr>
          <a:xfrm>
            <a:off x="6355080" y="1371600"/>
            <a:ext cx="5422392" cy="201168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37160" bIns="7315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+mn-lt"/>
                <a:cs typeface="Calibri"/>
              </a:rPr>
              <a:t>Inventory module tracks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62626"/>
                </a:solidFill>
                <a:latin typeface="+mn-lt"/>
                <a:cs typeface="Calibri"/>
              </a:rPr>
              <a:t>Stock, reserved and available quantity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Clr>
                <a:srgbClr val="2E8B9A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62626"/>
                </a:solidFill>
                <a:latin typeface="+mn-lt"/>
                <a:cs typeface="Calibri"/>
              </a:rPr>
              <a:t>Reorder level, shortages, movements, valuation</a:t>
            </a:r>
          </a:p>
        </p:txBody>
      </p:sp>
      <p:sp>
        <p:nvSpPr>
          <p:cNvPr id="13" name="Chip 13"/>
          <p:cNvSpPr/>
          <p:nvPr/>
        </p:nvSpPr>
        <p:spPr>
          <a:xfrm>
            <a:off x="6355080" y="3611880"/>
            <a:ext cx="5422392" cy="54864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Compare demand with available stock</a:t>
            </a:r>
          </a:p>
        </p:txBody>
      </p:sp>
      <p:sp>
        <p:nvSpPr>
          <p:cNvPr id="14" name="Yes 14"/>
          <p:cNvSpPr/>
          <p:nvPr/>
        </p:nvSpPr>
        <p:spPr>
          <a:xfrm>
            <a:off x="6355080" y="438912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E9F4E4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548235"/>
                </a:solidFill>
                <a:latin typeface="+mn-lt"/>
                <a:cs typeface="Calibri"/>
              </a:rPr>
              <a:t>Sufficient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+mn-lt"/>
                <a:cs typeface="Calibri"/>
              </a:rPr>
              <a:t>Continue production planning</a:t>
            </a:r>
          </a:p>
        </p:txBody>
      </p:sp>
      <p:sp>
        <p:nvSpPr>
          <p:cNvPr id="15" name="No 15"/>
          <p:cNvSpPr/>
          <p:nvPr/>
        </p:nvSpPr>
        <p:spPr>
          <a:xfrm>
            <a:off x="9171432" y="438912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C55A11"/>
                </a:solidFill>
                <a:latin typeface="+mn-lt"/>
                <a:cs typeface="Calibri"/>
              </a:rPr>
              <a:t>Shortage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+mn-lt"/>
                <a:cs typeface="Calibri"/>
              </a:rPr>
              <a:t>Start procurement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Supplier Evaluation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Metric 11"/>
          <p:cNvSpPr/>
          <p:nvPr/>
        </p:nvSpPr>
        <p:spPr>
          <a:xfrm>
            <a:off x="411480" y="1371600"/>
            <a:ext cx="2377440" cy="731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Availability</a:t>
            </a:r>
          </a:p>
        </p:txBody>
      </p:sp>
      <p:sp>
        <p:nvSpPr>
          <p:cNvPr id="12" name="Metric 12"/>
          <p:cNvSpPr/>
          <p:nvPr/>
        </p:nvSpPr>
        <p:spPr>
          <a:xfrm>
            <a:off x="2926080" y="1371600"/>
            <a:ext cx="2377440" cy="731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On-time delivery</a:t>
            </a:r>
          </a:p>
        </p:txBody>
      </p:sp>
      <p:sp>
        <p:nvSpPr>
          <p:cNvPr id="13" name="Metric 13"/>
          <p:cNvSpPr/>
          <p:nvPr/>
        </p:nvSpPr>
        <p:spPr>
          <a:xfrm>
            <a:off x="411480" y="2240280"/>
            <a:ext cx="2377440" cy="731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Fill rate</a:t>
            </a:r>
          </a:p>
        </p:txBody>
      </p:sp>
      <p:sp>
        <p:nvSpPr>
          <p:cNvPr id="14" name="Metric 14"/>
          <p:cNvSpPr/>
          <p:nvPr/>
        </p:nvSpPr>
        <p:spPr>
          <a:xfrm>
            <a:off x="2926080" y="2240280"/>
            <a:ext cx="2377440" cy="731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Defect rate</a:t>
            </a:r>
          </a:p>
        </p:txBody>
      </p:sp>
      <p:sp>
        <p:nvSpPr>
          <p:cNvPr id="15" name="Metric 15"/>
          <p:cNvSpPr/>
          <p:nvPr/>
        </p:nvSpPr>
        <p:spPr>
          <a:xfrm>
            <a:off x="411480" y="3108960"/>
            <a:ext cx="2377440" cy="731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Reliability score</a:t>
            </a:r>
          </a:p>
        </p:txBody>
      </p:sp>
      <p:sp>
        <p:nvSpPr>
          <p:cNvPr id="16" name="Metric 16"/>
          <p:cNvSpPr/>
          <p:nvPr/>
        </p:nvSpPr>
        <p:spPr>
          <a:xfrm>
            <a:off x="2926080" y="3108960"/>
            <a:ext cx="2377440" cy="731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Unit price</a:t>
            </a:r>
          </a:p>
        </p:txBody>
      </p:sp>
      <p:sp>
        <p:nvSpPr>
          <p:cNvPr id="17" name="Metric 17"/>
          <p:cNvSpPr/>
          <p:nvPr/>
        </p:nvSpPr>
        <p:spPr>
          <a:xfrm>
            <a:off x="411480" y="3977640"/>
            <a:ext cx="2377440" cy="731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Lead time</a:t>
            </a:r>
          </a:p>
        </p:txBody>
      </p:sp>
      <p:sp>
        <p:nvSpPr>
          <p:cNvPr id="18" name="Metric 18"/>
          <p:cNvSpPr/>
          <p:nvPr/>
        </p:nvSpPr>
        <p:spPr>
          <a:xfrm>
            <a:off x="2926080" y="3977640"/>
            <a:ext cx="2377440" cy="731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AI risk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69280" y="132588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Example: Supplier S001, Battery Systems India</a:t>
            </a:r>
          </a:p>
        </p:txBody>
      </p:sp>
      <p:sp>
        <p:nvSpPr>
          <p:cNvPr id="20" name="Stat 20"/>
          <p:cNvSpPr/>
          <p:nvPr/>
        </p:nvSpPr>
        <p:spPr>
          <a:xfrm>
            <a:off x="5669280" y="178308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+mn-lt"/>
                <a:cs typeface="Calibri"/>
              </a:rPr>
              <a:t>178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+mn-lt"/>
                <a:cs typeface="Calibri"/>
              </a:rPr>
              <a:t>total orders</a:t>
            </a:r>
          </a:p>
        </p:txBody>
      </p:sp>
      <p:sp>
        <p:nvSpPr>
          <p:cNvPr id="21" name="Stat 21"/>
          <p:cNvSpPr/>
          <p:nvPr/>
        </p:nvSpPr>
        <p:spPr>
          <a:xfrm>
            <a:off x="8778240" y="178308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C55A11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+mn-lt"/>
                <a:cs typeface="Calibri"/>
              </a:rPr>
              <a:t>46.63%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+mn-lt"/>
                <a:cs typeface="Calibri"/>
              </a:rPr>
              <a:t>on-time delivery</a:t>
            </a:r>
          </a:p>
        </p:txBody>
      </p:sp>
      <p:sp>
        <p:nvSpPr>
          <p:cNvPr id="22" name="Stat 22"/>
          <p:cNvSpPr/>
          <p:nvPr/>
        </p:nvSpPr>
        <p:spPr>
          <a:xfrm>
            <a:off x="5669280" y="301752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548235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+mn-lt"/>
                <a:cs typeface="Calibri"/>
              </a:rPr>
              <a:t>96.34%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+mn-lt"/>
                <a:cs typeface="Calibri"/>
              </a:rPr>
              <a:t>fill rate</a:t>
            </a:r>
          </a:p>
        </p:txBody>
      </p:sp>
      <p:sp>
        <p:nvSpPr>
          <p:cNvPr id="23" name="Stat 23"/>
          <p:cNvSpPr/>
          <p:nvPr/>
        </p:nvSpPr>
        <p:spPr>
          <a:xfrm>
            <a:off x="8778240" y="301752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+mn-lt"/>
                <a:cs typeface="Calibri"/>
              </a:rPr>
              <a:t>70.22%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+mn-lt"/>
                <a:cs typeface="Calibri"/>
              </a:rPr>
              <a:t>reliability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29921" y="4760988"/>
            <a:ext cx="45691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r>
              <a:rPr lang="en-US" sz="2000" b="1" dirty="0">
                <a:solidFill>
                  <a:srgbClr val="2D4E6A"/>
                </a:solidFill>
                <a:cs typeface="Calibri"/>
              </a:rPr>
              <a:t>XGBoost Supplier Risk Prediction</a:t>
            </a:r>
          </a:p>
        </p:txBody>
      </p:sp>
      <p:sp>
        <p:nvSpPr>
          <p:cNvPr id="2" name="Step 11">
            <a:extLst>
              <a:ext uri="{FF2B5EF4-FFF2-40B4-BE49-F238E27FC236}">
                <a16:creationId xmlns:a16="http://schemas.microsoft.com/office/drawing/2014/main" id="{3EDDAA6B-F8BF-CCE0-9336-5EFBCE068F6E}"/>
              </a:ext>
            </a:extLst>
          </p:cNvPr>
          <p:cNvSpPr/>
          <p:nvPr/>
        </p:nvSpPr>
        <p:spPr>
          <a:xfrm>
            <a:off x="411480" y="5151894"/>
            <a:ext cx="2817130" cy="102870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36576" rIns="91440" bIns="36576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Input data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  <a:cs typeface="Calibri"/>
              </a:rPr>
              <a:t>Orders, delivery, price, quality, reliability</a:t>
            </a:r>
          </a:p>
        </p:txBody>
      </p:sp>
      <p:cxnSp>
        <p:nvCxnSpPr>
          <p:cNvPr id="6" name="Connector 12">
            <a:extLst>
              <a:ext uri="{FF2B5EF4-FFF2-40B4-BE49-F238E27FC236}">
                <a16:creationId xmlns:a16="http://schemas.microsoft.com/office/drawing/2014/main" id="{362ED94B-A25F-DE87-902D-847CDC640766}"/>
              </a:ext>
            </a:extLst>
          </p:cNvPr>
          <p:cNvCxnSpPr>
            <a:cxnSpLocks/>
          </p:cNvCxnSpPr>
          <p:nvPr/>
        </p:nvCxnSpPr>
        <p:spPr>
          <a:xfrm>
            <a:off x="3220093" y="5604522"/>
            <a:ext cx="200541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7" name="Step 13">
            <a:extLst>
              <a:ext uri="{FF2B5EF4-FFF2-40B4-BE49-F238E27FC236}">
                <a16:creationId xmlns:a16="http://schemas.microsoft.com/office/drawing/2014/main" id="{860428CD-11C8-D04D-7CB7-6B5BEA074388}"/>
              </a:ext>
            </a:extLst>
          </p:cNvPr>
          <p:cNvSpPr/>
          <p:nvPr/>
        </p:nvSpPr>
        <p:spPr>
          <a:xfrm>
            <a:off x="3332913" y="5117736"/>
            <a:ext cx="2817130" cy="102870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36576" rIns="91440" bIns="36576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Feature engineering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  <a:cs typeface="Calibri"/>
              </a:rPr>
              <a:t>Clean, encode, compute measures</a:t>
            </a:r>
          </a:p>
        </p:txBody>
      </p:sp>
      <p:cxnSp>
        <p:nvCxnSpPr>
          <p:cNvPr id="8" name="Connector 14">
            <a:extLst>
              <a:ext uri="{FF2B5EF4-FFF2-40B4-BE49-F238E27FC236}">
                <a16:creationId xmlns:a16="http://schemas.microsoft.com/office/drawing/2014/main" id="{FE7D0BD3-8E62-2C33-F45E-F9B3B9874317}"/>
              </a:ext>
            </a:extLst>
          </p:cNvPr>
          <p:cNvCxnSpPr>
            <a:cxnSpLocks/>
          </p:cNvCxnSpPr>
          <p:nvPr/>
        </p:nvCxnSpPr>
        <p:spPr>
          <a:xfrm>
            <a:off x="6109597" y="5604522"/>
            <a:ext cx="200541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9" name="Step 15">
            <a:extLst>
              <a:ext uri="{FF2B5EF4-FFF2-40B4-BE49-F238E27FC236}">
                <a16:creationId xmlns:a16="http://schemas.microsoft.com/office/drawing/2014/main" id="{3C0DBC7A-4B19-BCAC-D5CE-FA01358F97DD}"/>
              </a:ext>
            </a:extLst>
          </p:cNvPr>
          <p:cNvSpPr/>
          <p:nvPr/>
        </p:nvSpPr>
        <p:spPr>
          <a:xfrm>
            <a:off x="6190488" y="5151894"/>
            <a:ext cx="2817130" cy="10287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36576" rIns="91440" bIns="36576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XGBoost model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  <a:cs typeface="Calibri"/>
              </a:rPr>
              <a:t>Risk score or probability</a:t>
            </a:r>
          </a:p>
        </p:txBody>
      </p:sp>
      <p:cxnSp>
        <p:nvCxnSpPr>
          <p:cNvPr id="10" name="Connector 16">
            <a:extLst>
              <a:ext uri="{FF2B5EF4-FFF2-40B4-BE49-F238E27FC236}">
                <a16:creationId xmlns:a16="http://schemas.microsoft.com/office/drawing/2014/main" id="{AA21986F-6ED8-97A2-F9B8-81B3128FB10D}"/>
              </a:ext>
            </a:extLst>
          </p:cNvPr>
          <p:cNvCxnSpPr>
            <a:cxnSpLocks/>
          </p:cNvCxnSpPr>
          <p:nvPr/>
        </p:nvCxnSpPr>
        <p:spPr>
          <a:xfrm>
            <a:off x="8999101" y="5604522"/>
            <a:ext cx="200541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6" name="Step 17">
            <a:extLst>
              <a:ext uri="{FF2B5EF4-FFF2-40B4-BE49-F238E27FC236}">
                <a16:creationId xmlns:a16="http://schemas.microsoft.com/office/drawing/2014/main" id="{D25DC605-194D-E4BB-6F00-3CC8821232D2}"/>
              </a:ext>
            </a:extLst>
          </p:cNvPr>
          <p:cNvSpPr/>
          <p:nvPr/>
        </p:nvSpPr>
        <p:spPr>
          <a:xfrm>
            <a:off x="9079992" y="5151894"/>
            <a:ext cx="2817130" cy="102870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91440" tIns="36576" rIns="91440" bIns="36576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Decision support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  <a:cs typeface="Calibri"/>
              </a:rPr>
              <a:t>One factor in supplier selection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Procurement and Purchase Orders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Step 11"/>
          <p:cNvSpPr/>
          <p:nvPr/>
        </p:nvSpPr>
        <p:spPr>
          <a:xfrm>
            <a:off x="411480" y="137160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2E8B9A"/>
                </a:solidFill>
                <a:latin typeface="+mn-lt"/>
                <a:cs typeface="Calibri"/>
              </a:rPr>
              <a:t>1  </a:t>
            </a: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Choose component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3108960" y="1874520"/>
            <a:ext cx="192024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13" name="Step 13"/>
          <p:cNvSpPr/>
          <p:nvPr/>
        </p:nvSpPr>
        <p:spPr>
          <a:xfrm>
            <a:off x="3300984" y="137160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2E8B9A"/>
                </a:solidFill>
                <a:latin typeface="+mn-lt"/>
                <a:cs typeface="Calibri"/>
              </a:rPr>
              <a:t>2  </a:t>
            </a: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Determine quantity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5998464" y="1874520"/>
            <a:ext cx="192024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15" name="Step 15"/>
          <p:cNvSpPr/>
          <p:nvPr/>
        </p:nvSpPr>
        <p:spPr>
          <a:xfrm>
            <a:off x="6190488" y="137160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2E8B9A"/>
                </a:solidFill>
                <a:latin typeface="+mn-lt"/>
                <a:cs typeface="Calibri"/>
              </a:rPr>
              <a:t>3  </a:t>
            </a: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Retrieve eligible suppliers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8887968" y="1874520"/>
            <a:ext cx="192024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17" name="Step 17"/>
          <p:cNvSpPr/>
          <p:nvPr/>
        </p:nvSpPr>
        <p:spPr>
          <a:xfrm>
            <a:off x="9079992" y="137160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2E8B9A"/>
                </a:solidFill>
                <a:latin typeface="+mn-lt"/>
                <a:cs typeface="Calibri"/>
              </a:rPr>
              <a:t>4  </a:t>
            </a: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Evaluate ranking and AI risk</a:t>
            </a:r>
          </a:p>
        </p:txBody>
      </p:sp>
      <p:sp>
        <p:nvSpPr>
          <p:cNvPr id="18" name="Step 18"/>
          <p:cNvSpPr/>
          <p:nvPr/>
        </p:nvSpPr>
        <p:spPr>
          <a:xfrm>
            <a:off x="411480" y="256032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2E8B9A"/>
                </a:solidFill>
                <a:latin typeface="+mn-lt"/>
                <a:cs typeface="Calibri"/>
              </a:rPr>
              <a:t>5  </a:t>
            </a: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Select supplier</a:t>
            </a:r>
          </a:p>
        </p:txBody>
      </p:sp>
      <p:cxnSp>
        <p:nvCxnSpPr>
          <p:cNvPr id="19" name="Connector 19"/>
          <p:cNvCxnSpPr/>
          <p:nvPr/>
        </p:nvCxnSpPr>
        <p:spPr>
          <a:xfrm>
            <a:off x="3108960" y="3063240"/>
            <a:ext cx="192024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0" name="Step 20"/>
          <p:cNvSpPr/>
          <p:nvPr/>
        </p:nvSpPr>
        <p:spPr>
          <a:xfrm>
            <a:off x="3300984" y="256032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2E8B9A"/>
                </a:solidFill>
                <a:latin typeface="+mn-lt"/>
                <a:cs typeface="Calibri"/>
              </a:rPr>
              <a:t>6  </a:t>
            </a: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Calculate order value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5998464" y="3063240"/>
            <a:ext cx="192024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2" name="Step 22"/>
          <p:cNvSpPr/>
          <p:nvPr/>
        </p:nvSpPr>
        <p:spPr>
          <a:xfrm>
            <a:off x="6190488" y="256032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2E8B9A"/>
                </a:solidFill>
                <a:latin typeface="+mn-lt"/>
                <a:cs typeface="Calibri"/>
              </a:rPr>
              <a:t>7  </a:t>
            </a: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Create purchase order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8887968" y="3063240"/>
            <a:ext cx="192024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4" name="Step 24"/>
          <p:cNvSpPr/>
          <p:nvPr/>
        </p:nvSpPr>
        <p:spPr>
          <a:xfrm>
            <a:off x="9079992" y="256032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2E8B9A"/>
                </a:solidFill>
                <a:latin typeface="+mn-lt"/>
                <a:cs typeface="Calibri"/>
              </a:rPr>
              <a:t>8  </a:t>
            </a:r>
            <a:r>
              <a:rPr lang="en-US" sz="1600" b="1" i="0" dirty="0">
                <a:solidFill>
                  <a:srgbClr val="1F4E79"/>
                </a:solidFill>
                <a:latin typeface="+mn-lt"/>
                <a:cs typeface="Calibri"/>
              </a:rPr>
              <a:t>Store in </a:t>
            </a:r>
            <a:r>
              <a:rPr lang="en-US" sz="1600" b="1" dirty="0">
                <a:solidFill>
                  <a:srgbClr val="1F4E79"/>
                </a:solidFill>
                <a:cs typeface="Calibri"/>
              </a:rPr>
              <a:t>Database</a:t>
            </a:r>
            <a:endParaRPr lang="en-US" sz="1600" b="1" i="0" dirty="0">
              <a:solidFill>
                <a:srgbClr val="1F4E79"/>
              </a:solidFill>
              <a:latin typeface="+mn-lt"/>
              <a:cs typeface="Calibri"/>
            </a:endParaRPr>
          </a:p>
        </p:txBody>
      </p:sp>
      <p:sp>
        <p:nvSpPr>
          <p:cNvPr id="25" name="Formula 25"/>
          <p:cNvSpPr/>
          <p:nvPr/>
        </p:nvSpPr>
        <p:spPr>
          <a:xfrm>
            <a:off x="411480" y="3886200"/>
            <a:ext cx="11365992" cy="86868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+mn-lt"/>
                <a:cs typeface="Calibri"/>
              </a:rPr>
              <a:t>Order value = quantity × unit price:  200 × ₹15,000 = ₹30,00,000</a:t>
            </a:r>
          </a:p>
        </p:txBody>
      </p:sp>
      <p:sp>
        <p:nvSpPr>
          <p:cNvPr id="26" name="Chip 26"/>
          <p:cNvSpPr/>
          <p:nvPr/>
        </p:nvSpPr>
        <p:spPr>
          <a:xfrm>
            <a:off x="411480" y="498348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CREATED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2514600" y="5234940"/>
            <a:ext cx="256032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8" name="Chip 28"/>
          <p:cNvSpPr/>
          <p:nvPr/>
        </p:nvSpPr>
        <p:spPr>
          <a:xfrm>
            <a:off x="2770632" y="498348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CONFIRMED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4873752" y="5234940"/>
            <a:ext cx="256032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30" name="Chip 30"/>
          <p:cNvSpPr/>
          <p:nvPr/>
        </p:nvSpPr>
        <p:spPr>
          <a:xfrm>
            <a:off x="5129784" y="498348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PROCESSING</a:t>
            </a:r>
          </a:p>
        </p:txBody>
      </p:sp>
      <p:cxnSp>
        <p:nvCxnSpPr>
          <p:cNvPr id="31" name="Connector 31"/>
          <p:cNvCxnSpPr/>
          <p:nvPr/>
        </p:nvCxnSpPr>
        <p:spPr>
          <a:xfrm>
            <a:off x="7232904" y="5234940"/>
            <a:ext cx="256032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32" name="Chip 32"/>
          <p:cNvSpPr/>
          <p:nvPr/>
        </p:nvSpPr>
        <p:spPr>
          <a:xfrm>
            <a:off x="7488936" y="498348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SHIPPED</a:t>
            </a:r>
          </a:p>
        </p:txBody>
      </p:sp>
      <p:cxnSp>
        <p:nvCxnSpPr>
          <p:cNvPr id="33" name="Connector 33"/>
          <p:cNvCxnSpPr/>
          <p:nvPr/>
        </p:nvCxnSpPr>
        <p:spPr>
          <a:xfrm>
            <a:off x="9592056" y="5234940"/>
            <a:ext cx="256032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34" name="Chip 34"/>
          <p:cNvSpPr/>
          <p:nvPr/>
        </p:nvSpPr>
        <p:spPr>
          <a:xfrm>
            <a:off x="9848088" y="498348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DELIVERED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1480" y="5577840"/>
            <a:ext cx="11365992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400" b="0" i="1" dirty="0">
              <a:solidFill>
                <a:srgbClr val="59595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Shipment Tracking and Simulation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Stage 11"/>
          <p:cNvSpPr/>
          <p:nvPr/>
        </p:nvSpPr>
        <p:spPr>
          <a:xfrm>
            <a:off x="449617" y="2937753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+mn-lt"/>
                <a:cs typeface="Calibri"/>
              </a:rPr>
              <a:t>Order Placed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  <a:cs typeface="Calibri"/>
              </a:rPr>
              <a:t>Purchase order created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2552737" y="3550401"/>
            <a:ext cx="256032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13" name="Stage 13"/>
          <p:cNvSpPr/>
          <p:nvPr/>
        </p:nvSpPr>
        <p:spPr>
          <a:xfrm>
            <a:off x="2808769" y="2937753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+mn-lt"/>
                <a:cs typeface="Calibri"/>
              </a:rPr>
              <a:t>Confirmed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  <a:cs typeface="Calibri"/>
              </a:rPr>
              <a:t>Supplier accepts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4911889" y="3550401"/>
            <a:ext cx="256032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15" name="Stage 15"/>
          <p:cNvSpPr/>
          <p:nvPr/>
        </p:nvSpPr>
        <p:spPr>
          <a:xfrm>
            <a:off x="5167921" y="2937753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+mn-lt"/>
                <a:cs typeface="Calibri"/>
              </a:rPr>
              <a:t>Dispatched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  <a:cs typeface="Calibri"/>
              </a:rPr>
              <a:t>Leaves the supplier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7271041" y="3550401"/>
            <a:ext cx="256032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17" name="Stage 17"/>
          <p:cNvSpPr/>
          <p:nvPr/>
        </p:nvSpPr>
        <p:spPr>
          <a:xfrm>
            <a:off x="7527073" y="2937753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+mn-lt"/>
                <a:cs typeface="Calibri"/>
              </a:rPr>
              <a:t>In Transit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  <a:cs typeface="Calibri"/>
              </a:rPr>
              <a:t>Being transported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9630193" y="3550401"/>
            <a:ext cx="256032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19" name="Stage 19"/>
          <p:cNvSpPr/>
          <p:nvPr/>
        </p:nvSpPr>
        <p:spPr>
          <a:xfrm>
            <a:off x="9886225" y="2937753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+mn-lt"/>
                <a:cs typeface="Calibri"/>
              </a:rPr>
              <a:t>Delivered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  <a:cs typeface="Calibri"/>
              </a:rPr>
              <a:t>Reaches destination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Goods Receipt and Inventory Update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411480" y="1371600"/>
          <a:ext cx="4937760" cy="2514600"/>
        </p:xfrm>
        <a:graphic>
          <a:graphicData uri="http://schemas.openxmlformats.org/drawingml/2006/table">
            <a:tbl>
              <a:tblPr firstRow="1"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Movement</a:t>
                      </a:r>
                    </a:p>
                  </a:txBody>
                  <a:tcPr marR="73152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Units</a:t>
                      </a:r>
                    </a:p>
                  </a:txBody>
                  <a:tcPr marR="73152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+mn-lt"/>
                          <a:cs typeface="Calibri"/>
                        </a:rPr>
                        <a:t>Initial stock</a:t>
                      </a:r>
                    </a:p>
                  </a:txBody>
                  <a:tcPr marR="73152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+mn-lt"/>
                          <a:cs typeface="Calibri"/>
                        </a:rPr>
                        <a:t>150</a:t>
                      </a:r>
                    </a:p>
                  </a:txBody>
                  <a:tcPr marR="73152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+mn-lt"/>
                          <a:cs typeface="Calibri"/>
                        </a:rPr>
                        <a:t>Shipment received</a:t>
                      </a:r>
                    </a:p>
                  </a:txBody>
                  <a:tcPr marR="73152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+mn-lt"/>
                          <a:cs typeface="Calibri"/>
                        </a:rPr>
                        <a:t>+200</a:t>
                      </a:r>
                    </a:p>
                  </a:txBody>
                  <a:tcPr marR="73152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+mn-lt"/>
                          <a:cs typeface="Calibri"/>
                        </a:rPr>
                        <a:t>Manufacturing use</a:t>
                      </a:r>
                    </a:p>
                  </a:txBody>
                  <a:tcPr marR="73152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+mn-lt"/>
                          <a:cs typeface="Calibri"/>
                        </a:rPr>
                        <a:t>−100</a:t>
                      </a:r>
                    </a:p>
                  </a:txBody>
                  <a:tcPr marR="73152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62626"/>
                          </a:solidFill>
                          <a:latin typeface="+mn-lt"/>
                          <a:cs typeface="Calibri"/>
                        </a:rPr>
                        <a:t>Final stock</a:t>
                      </a:r>
                    </a:p>
                  </a:txBody>
                  <a:tcPr marR="73152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9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262626"/>
                          </a:solidFill>
                          <a:latin typeface="+mn-lt"/>
                          <a:cs typeface="Calibri"/>
                        </a:rPr>
                        <a:t>250</a:t>
                      </a:r>
                    </a:p>
                  </a:txBody>
                  <a:tcPr marR="73152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9F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Formula 12"/>
          <p:cNvSpPr/>
          <p:nvPr/>
        </p:nvSpPr>
        <p:spPr>
          <a:xfrm>
            <a:off x="411480" y="4114800"/>
            <a:ext cx="4937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3E6"/>
            </a:solidFill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  <a:cs typeface="Calibri"/>
              </a:rPr>
              <a:t>Closing = Opening + Receipts − Consumption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1480" y="5074920"/>
            <a:ext cx="493776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400" b="0" i="1" dirty="0">
              <a:solidFill>
                <a:srgbClr val="C55A11"/>
              </a:solidFill>
              <a:latin typeface="+mn-lt"/>
              <a:cs typeface="Calibri"/>
            </a:endParaRPr>
          </a:p>
        </p:txBody>
      </p:sp>
      <p:sp>
        <p:nvSpPr>
          <p:cNvPr id="14" name="Chip 14"/>
          <p:cNvSpPr/>
          <p:nvPr/>
        </p:nvSpPr>
        <p:spPr>
          <a:xfrm>
            <a:off x="5852160" y="1371600"/>
            <a:ext cx="5925312" cy="566928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Delivery confirmed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8814816" y="1938528"/>
            <a:ext cx="0" cy="18288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16" name="Chip 16"/>
          <p:cNvSpPr/>
          <p:nvPr/>
        </p:nvSpPr>
        <p:spPr>
          <a:xfrm>
            <a:off x="5852160" y="2121408"/>
            <a:ext cx="5925312" cy="566928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Quantity verified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8814816" y="2688336"/>
            <a:ext cx="0" cy="18288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18" name="Chip 18"/>
          <p:cNvSpPr/>
          <p:nvPr/>
        </p:nvSpPr>
        <p:spPr>
          <a:xfrm>
            <a:off x="5852160" y="2871216"/>
            <a:ext cx="5925312" cy="566928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Goods receipt recorded</a:t>
            </a:r>
          </a:p>
        </p:txBody>
      </p:sp>
      <p:cxnSp>
        <p:nvCxnSpPr>
          <p:cNvPr id="19" name="Connector 19"/>
          <p:cNvCxnSpPr/>
          <p:nvPr/>
        </p:nvCxnSpPr>
        <p:spPr>
          <a:xfrm>
            <a:off x="8814816" y="3438144"/>
            <a:ext cx="0" cy="18288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0" name="Chip 20"/>
          <p:cNvSpPr/>
          <p:nvPr/>
        </p:nvSpPr>
        <p:spPr>
          <a:xfrm>
            <a:off x="5852160" y="3621024"/>
            <a:ext cx="5925312" cy="566928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Inventory updated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8814816" y="4187952"/>
            <a:ext cx="0" cy="18288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2" name="Chip 22"/>
          <p:cNvSpPr/>
          <p:nvPr/>
        </p:nvSpPr>
        <p:spPr>
          <a:xfrm>
            <a:off x="5852160" y="4370832"/>
            <a:ext cx="5925312" cy="566928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Transaction recorded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8814816" y="4937760"/>
            <a:ext cx="0" cy="18288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4" name="Chip 24"/>
          <p:cNvSpPr/>
          <p:nvPr/>
        </p:nvSpPr>
        <p:spPr>
          <a:xfrm>
            <a:off x="5852160" y="5120640"/>
            <a:ext cx="5925312" cy="566928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  <a:cs typeface="Calibri"/>
              </a:rPr>
              <a:t>Supplier performance updated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52160" y="5897880"/>
            <a:ext cx="5925312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400" b="0" i="1" dirty="0">
              <a:solidFill>
                <a:srgbClr val="59595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Graph-RAG Decision Intelligence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Step 11"/>
          <p:cNvSpPr/>
          <p:nvPr/>
        </p:nvSpPr>
        <p:spPr>
          <a:xfrm>
            <a:off x="411480" y="1371600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109728" tIns="18288" rIns="73152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BDD7EE"/>
                </a:solidFill>
                <a:latin typeface="+mn-lt"/>
                <a:cs typeface="Calibri"/>
              </a:rPr>
              <a:t>1  </a:t>
            </a: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Natural-language question</a:t>
            </a:r>
          </a:p>
        </p:txBody>
      </p:sp>
      <p:sp>
        <p:nvSpPr>
          <p:cNvPr id="12" name="Step 12"/>
          <p:cNvSpPr/>
          <p:nvPr/>
        </p:nvSpPr>
        <p:spPr>
          <a:xfrm>
            <a:off x="411480" y="2011680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109728" tIns="18288" rIns="73152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BDD7EE"/>
                </a:solidFill>
                <a:latin typeface="+mn-lt"/>
                <a:cs typeface="Calibri"/>
              </a:rPr>
              <a:t>2  </a:t>
            </a: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Identify entities and intent</a:t>
            </a:r>
          </a:p>
        </p:txBody>
      </p:sp>
      <p:sp>
        <p:nvSpPr>
          <p:cNvPr id="13" name="Step 13"/>
          <p:cNvSpPr/>
          <p:nvPr/>
        </p:nvSpPr>
        <p:spPr>
          <a:xfrm>
            <a:off x="411480" y="2651760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</p:spPr>
        <p:txBody>
          <a:bodyPr wrap="square" lIns="109728" tIns="18288" rIns="73152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BDD7EE"/>
                </a:solidFill>
                <a:latin typeface="+mn-lt"/>
                <a:cs typeface="Calibri"/>
              </a:rPr>
              <a:t>3  </a:t>
            </a: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Retrieve graph relationships</a:t>
            </a:r>
          </a:p>
        </p:txBody>
      </p:sp>
      <p:sp>
        <p:nvSpPr>
          <p:cNvPr id="14" name="Step 14"/>
          <p:cNvSpPr/>
          <p:nvPr/>
        </p:nvSpPr>
        <p:spPr>
          <a:xfrm>
            <a:off x="411480" y="3291840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109728" tIns="18288" rIns="73152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BDD7EE"/>
                </a:solidFill>
                <a:latin typeface="+mn-lt"/>
                <a:cs typeface="Calibri"/>
              </a:rPr>
              <a:t>4  </a:t>
            </a: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Collect supplier, stock, order context</a:t>
            </a:r>
          </a:p>
        </p:txBody>
      </p:sp>
      <p:sp>
        <p:nvSpPr>
          <p:cNvPr id="15" name="Step 15"/>
          <p:cNvSpPr/>
          <p:nvPr/>
        </p:nvSpPr>
        <p:spPr>
          <a:xfrm>
            <a:off x="411480" y="3931920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109728" tIns="18288" rIns="73152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BDD7EE"/>
                </a:solidFill>
                <a:latin typeface="+mn-lt"/>
                <a:cs typeface="Calibri"/>
              </a:rPr>
              <a:t>5  </a:t>
            </a: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Build grounded context</a:t>
            </a:r>
          </a:p>
        </p:txBody>
      </p:sp>
      <p:sp>
        <p:nvSpPr>
          <p:cNvPr id="16" name="Step 16"/>
          <p:cNvSpPr/>
          <p:nvPr/>
        </p:nvSpPr>
        <p:spPr>
          <a:xfrm>
            <a:off x="411480" y="4572000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</p:spPr>
        <p:txBody>
          <a:bodyPr wrap="square" lIns="109728" tIns="18288" rIns="73152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BDD7EE"/>
                </a:solidFill>
                <a:latin typeface="+mn-lt"/>
                <a:cs typeface="Calibri"/>
              </a:rPr>
              <a:t>6  </a:t>
            </a:r>
            <a:r>
              <a:rPr lang="en-US" sz="1500" b="1" i="0" dirty="0">
                <a:solidFill>
                  <a:srgbClr val="FFFFFF"/>
                </a:solidFill>
                <a:latin typeface="+mn-lt"/>
                <a:cs typeface="Calibri"/>
              </a:rPr>
              <a:t>LLM generates explanation</a:t>
            </a:r>
          </a:p>
        </p:txBody>
      </p:sp>
      <p:sp>
        <p:nvSpPr>
          <p:cNvPr id="18" name="Card 18"/>
          <p:cNvSpPr/>
          <p:nvPr/>
        </p:nvSpPr>
        <p:spPr>
          <a:xfrm>
            <a:off x="4846320" y="1371600"/>
            <a:ext cx="6931152" cy="219456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37160" bIns="7315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+mn-lt"/>
                <a:cs typeface="Calibri"/>
              </a:rPr>
              <a:t>Example: Why is Supplier S001 risky?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500" b="0" i="0" dirty="0">
                <a:solidFill>
                  <a:srgbClr val="262626"/>
                </a:solidFill>
                <a:latin typeface="+mn-lt"/>
                <a:cs typeface="Calibri"/>
              </a:rPr>
              <a:t>Retrieves on-time %, fulfillment history, reliability and recent orders, then explains that strong fill rate can coexist with delivery-delay risk.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95959"/>
                </a:solidFill>
                <a:latin typeface="+mn-lt"/>
                <a:cs typeface="Calibri"/>
              </a:rPr>
              <a:t>The model explains retrieved evidence; it must not invent supplier values.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46320" y="3703320"/>
            <a:ext cx="6931152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+mn-lt"/>
                <a:cs typeface="Calibri"/>
              </a:rPr>
              <a:t>Relationship path for a dependency question</a:t>
            </a:r>
          </a:p>
        </p:txBody>
      </p:sp>
      <p:sp>
        <p:nvSpPr>
          <p:cNvPr id="20" name="Chip 20"/>
          <p:cNvSpPr/>
          <p:nvPr/>
        </p:nvSpPr>
        <p:spPr>
          <a:xfrm>
            <a:off x="4846320" y="4114800"/>
            <a:ext cx="1280160" cy="64008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+mn-lt"/>
                <a:cs typeface="Calibri"/>
              </a:rPr>
              <a:t>Vehicle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6126480" y="4434840"/>
            <a:ext cx="137160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2" name="Chip 22"/>
          <p:cNvSpPr/>
          <p:nvPr/>
        </p:nvSpPr>
        <p:spPr>
          <a:xfrm>
            <a:off x="6263640" y="4114800"/>
            <a:ext cx="1280160" cy="64008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+mn-lt"/>
                <a:cs typeface="Calibri"/>
              </a:rPr>
              <a:t>Battery Pack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7543800" y="4434840"/>
            <a:ext cx="137160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4" name="Chip 24"/>
          <p:cNvSpPr/>
          <p:nvPr/>
        </p:nvSpPr>
        <p:spPr>
          <a:xfrm>
            <a:off x="7680960" y="4114800"/>
            <a:ext cx="1280160" cy="64008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+mn-lt"/>
                <a:cs typeface="Calibri"/>
              </a:rPr>
              <a:t>Supplier</a:t>
            </a:r>
          </a:p>
        </p:txBody>
      </p:sp>
      <p:cxnSp>
        <p:nvCxnSpPr>
          <p:cNvPr id="25" name="Connector 25"/>
          <p:cNvCxnSpPr/>
          <p:nvPr/>
        </p:nvCxnSpPr>
        <p:spPr>
          <a:xfrm>
            <a:off x="8961120" y="4434840"/>
            <a:ext cx="137160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6" name="Chip 26"/>
          <p:cNvSpPr/>
          <p:nvPr/>
        </p:nvSpPr>
        <p:spPr>
          <a:xfrm>
            <a:off x="9098280" y="4114800"/>
            <a:ext cx="1280160" cy="64008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+mn-lt"/>
                <a:cs typeface="Calibri"/>
              </a:rPr>
              <a:t>Purchase Orders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10378440" y="4434840"/>
            <a:ext cx="137160" cy="0"/>
          </a:xfrm>
          <a:prstGeom prst="line">
            <a:avLst/>
          </a:prstGeom>
          <a:ln w="25400">
            <a:solidFill>
              <a:srgbClr val="2E8B9A"/>
            </a:solidFill>
            <a:tailEnd type="triangle" w="med" len="med"/>
          </a:ln>
        </p:spPr>
      </p:cxnSp>
      <p:sp>
        <p:nvSpPr>
          <p:cNvPr id="28" name="Chip 28"/>
          <p:cNvSpPr/>
          <p:nvPr/>
        </p:nvSpPr>
        <p:spPr>
          <a:xfrm>
            <a:off x="10515600" y="4114800"/>
            <a:ext cx="1280160" cy="640080"/>
          </a:xfrm>
          <a:prstGeom prst="roundRect">
            <a:avLst>
              <a:gd name="adj" fmla="val 6000"/>
            </a:avLst>
          </a:prstGeom>
          <a:solidFill>
            <a:srgbClr val="2E8B9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+mn-lt"/>
                <a:cs typeface="Calibri"/>
              </a:rPr>
              <a:t>Delivery history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285344-F148-F919-C5FA-EDC6365C89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+mn-lt"/>
              </a:rPr>
              <a:t>Centralized Supply Chain Management: 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Successfully integrated inventory, suppliers, procurement, purchase orders, and shipment tracking into a unified platform.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+mn-lt"/>
              </a:rPr>
              <a:t>AI-Powered Supplier Evaluation: 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Implemented XGBoost-based supplier risk assessment and multi-criteria ranking to support intelligent procurement decisions.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+mn-lt"/>
              </a:rPr>
              <a:t>Inventory Optimization: 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Analyzed 45 EV components and identified inventory shortages to support timely replenishment and procurement planning.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+mn-lt"/>
              </a:rPr>
              <a:t>Supplier Performance Analysis: 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Evaluated 27 suppliers using delivery reliability, fulfillment rate, quality, price, and lead time.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+mn-lt"/>
              </a:rPr>
              <a:t>Intelligent Supplier Ranking: 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Demonstrated supplier comparison using real database records, with the highest-ranked supplier achieving a score of 72.50/100 in one test scenario.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+mn-lt"/>
              </a:rPr>
              <a:t>Procurement and Shipment Management: 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Integrated purchase order management and shipment tracking, with simulation capabilities for monitoring order progress.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+mn-lt"/>
              </a:rPr>
              <a:t>Autonomous Procurement Development: 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Established shortage detection, procurement policy evaluation, and PostgreSQL-based recommendation storage as the foundation for automated purchasing.</a:t>
            </a:r>
          </a:p>
          <a:p>
            <a:pPr algn="just"/>
            <a:endParaRPr lang="en-US" sz="18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E31CF-D33A-C60B-813E-444BBCD13E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Findings and Results…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E65F3-3BB7-5874-6B46-9D512BBFA8BF}"/>
              </a:ext>
            </a:extLst>
          </p:cNvPr>
          <p:cNvSpPr txBox="1"/>
          <p:nvPr/>
        </p:nvSpPr>
        <p:spPr>
          <a:xfrm>
            <a:off x="3852154" y="0"/>
            <a:ext cx="8674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</p:spTree>
    <p:extLst>
      <p:ext uri="{BB962C8B-B14F-4D97-AF65-F5344CB8AC3E}">
        <p14:creationId xmlns:p14="http://schemas.microsoft.com/office/powerpoint/2010/main" val="3703498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Conclusion and Future Scope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Conclusion 11"/>
          <p:cNvSpPr/>
          <p:nvPr/>
        </p:nvSpPr>
        <p:spPr>
          <a:xfrm>
            <a:off x="411480" y="1371600"/>
            <a:ext cx="5669280" cy="452628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274320" tIns="137160" rIns="274320" bIns="137160" rtlCol="0" anchor="ctr"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300" b="1" i="0" dirty="0">
                <a:solidFill>
                  <a:srgbClr val="FFFFFF"/>
                </a:solidFill>
                <a:latin typeface="+mn-lt"/>
                <a:cs typeface="Calibri"/>
              </a:rPr>
              <a:t>Conclusion</a:t>
            </a:r>
          </a:p>
          <a:p>
            <a:pPr marL="0" indent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900" b="0" i="0" dirty="0">
                <a:solidFill>
                  <a:srgbClr val="FFFFFF"/>
                </a:solidFill>
                <a:latin typeface="+mn-lt"/>
                <a:cs typeface="Calibri"/>
              </a:rPr>
              <a:t>EVFlow combines inventory, supplier, procurement, order and shipment management with XGBoost risk prediction, multi-criteria ranking and Graph-RAG explanation.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dirty="0">
                <a:solidFill>
                  <a:srgbClr val="BDD7EE"/>
                </a:solidFill>
                <a:latin typeface="+mn-lt"/>
                <a:cs typeface="Calibri"/>
              </a:rPr>
              <a:t>It is an AI-enabled decision-support prototype for EV manufacturing supply chains.</a:t>
            </a:r>
          </a:p>
        </p:txBody>
      </p:sp>
      <p:sp>
        <p:nvSpPr>
          <p:cNvPr id="12" name="Card 12"/>
          <p:cNvSpPr/>
          <p:nvPr/>
        </p:nvSpPr>
        <p:spPr>
          <a:xfrm>
            <a:off x="6263640" y="1371600"/>
            <a:ext cx="5513832" cy="452628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37160" tIns="91440" rIns="137160" bIns="7315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100" b="1" i="0" dirty="0">
                <a:solidFill>
                  <a:srgbClr val="1F4E79"/>
                </a:solidFill>
                <a:latin typeface="+mn-lt"/>
                <a:cs typeface="Calibri"/>
              </a:rPr>
              <a:t>Future scope</a:t>
            </a:r>
          </a:p>
          <a:p>
            <a:r>
              <a:rPr lang="en-US" b="1" dirty="0"/>
              <a:t>ERP Integration: </a:t>
            </a:r>
            <a:r>
              <a:rPr lang="en-US" dirty="0"/>
              <a:t>Connect with SAP and other enterprise systems for real-time supply chain operations.</a:t>
            </a:r>
          </a:p>
          <a:p>
            <a:r>
              <a:rPr lang="en-US" b="1" dirty="0"/>
              <a:t>Demand Forecasting: </a:t>
            </a:r>
            <a:r>
              <a:rPr lang="en-US" dirty="0"/>
              <a:t>Predict EV component demand and optimize inventory levels.</a:t>
            </a:r>
          </a:p>
          <a:p>
            <a:r>
              <a:rPr lang="en-US" b="1" dirty="0"/>
              <a:t>Autonomous Procurement: </a:t>
            </a:r>
            <a:r>
              <a:rPr lang="en-US" dirty="0"/>
              <a:t>Automate supplier selection, purchasing, and order management.</a:t>
            </a:r>
          </a:p>
          <a:p>
            <a:r>
              <a:rPr lang="en-US" b="1" dirty="0"/>
              <a:t>Predictive Risk Management: </a:t>
            </a:r>
            <a:r>
              <a:rPr lang="en-US" dirty="0"/>
              <a:t>Identify supplier failures, delivery delays, and production disruptions.</a:t>
            </a:r>
          </a:p>
          <a:p>
            <a:r>
              <a:rPr lang="en-US" b="1" dirty="0"/>
              <a:t>Digital Twin Technology: </a:t>
            </a:r>
            <a:r>
              <a:rPr lang="en-US" dirty="0"/>
              <a:t>Simulate supply chain disruptions and optimize manufacturing decisions.</a:t>
            </a:r>
          </a:p>
          <a:p>
            <a:r>
              <a:rPr lang="en-US" dirty="0"/>
              <a:t> 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Clr>
                <a:srgbClr val="2E8B9A"/>
              </a:buClr>
              <a:buFont typeface="Arial"/>
              <a:buChar char="•"/>
            </a:pPr>
            <a:endParaRPr lang="en-US" sz="1800" b="0" i="0" dirty="0">
              <a:solidFill>
                <a:srgbClr val="262626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Acknowledgement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Acknowledgement 11"/>
          <p:cNvSpPr/>
          <p:nvPr/>
        </p:nvSpPr>
        <p:spPr>
          <a:xfrm>
            <a:off x="411480" y="1463040"/>
            <a:ext cx="11365992" cy="356616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>
            <a:outerShdw blurRad="635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457200" tIns="182880" rIns="457200" bIns="182880" rtlCol="0" anchor="ctr"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62626"/>
                </a:solidFill>
                <a:latin typeface="+mn-lt"/>
                <a:cs typeface="Calibri"/>
              </a:rPr>
              <a:t>I would like to express my sincere gratitude to my guide, department and institution for their valuable guidance, encouragement and support throughout the development of this individual project, EVFlow: Intelligent Supply Chain Management Platform for Electric Vehicle Manufacturing.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255996" y="502545"/>
            <a:ext cx="11200000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2D4E6A"/>
                </a:solidFill>
                <a:latin typeface="Calibri"/>
                <a:cs typeface="Calibri"/>
              </a:rPr>
              <a:t>References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Header Text"/>
          <p:cNvSpPr txBox="1"/>
          <p:nvPr/>
        </p:nvSpPr>
        <p:spPr>
          <a:xfrm>
            <a:off x="3612630" y="57036"/>
            <a:ext cx="8579372" cy="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cs typeface="Calibri"/>
              </a:rPr>
              <a:t>Intelligent Supply Chain Management Platform for Electric Vehicle Manufacturing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1480" y="1463040"/>
            <a:ext cx="11365992" cy="43891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2E8B9A"/>
                </a:solidFill>
                <a:latin typeface="+mn-lt"/>
                <a:cs typeface="Calibri"/>
              </a:rPr>
              <a:t>[1]  </a:t>
            </a:r>
            <a:r>
              <a:rPr lang="en-US" sz="2000" b="0" i="0" dirty="0">
                <a:solidFill>
                  <a:srgbClr val="262626"/>
                </a:solidFill>
                <a:latin typeface="+mn-lt"/>
                <a:cs typeface="Calibri"/>
              </a:rPr>
              <a:t>Chen, T., Guestrin, C. (2016). XGBoost: A Scalable Tree Boosting System. ACM KDD.</a:t>
            </a:r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2E8B9A"/>
                </a:solidFill>
                <a:latin typeface="+mn-lt"/>
                <a:cs typeface="Calibri"/>
              </a:rPr>
              <a:t>[2]  </a:t>
            </a:r>
            <a:r>
              <a:rPr lang="en-US" sz="2000" b="0" i="0" dirty="0">
                <a:solidFill>
                  <a:srgbClr val="262626"/>
                </a:solidFill>
                <a:latin typeface="+mn-lt"/>
                <a:cs typeface="Calibri"/>
              </a:rPr>
              <a:t>Lewis, P. et al. (2020). Retrieval-Augmented Generation for Knowledge-Intensive NLP Tasks. NeurIPS.</a:t>
            </a:r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2E8B9A"/>
                </a:solidFill>
                <a:latin typeface="+mn-lt"/>
                <a:cs typeface="Calibri"/>
              </a:rPr>
              <a:t>[3]  </a:t>
            </a:r>
            <a:r>
              <a:rPr lang="en-US" sz="2000" b="0" i="0" dirty="0">
                <a:solidFill>
                  <a:srgbClr val="262626"/>
                </a:solidFill>
                <a:latin typeface="+mn-lt"/>
                <a:cs typeface="Calibri"/>
              </a:rPr>
              <a:t>XGBoost documentation: machine learning for supplier risk prediction.</a:t>
            </a:r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2E8B9A"/>
                </a:solidFill>
                <a:latin typeface="+mn-lt"/>
                <a:cs typeface="Calibri"/>
              </a:rPr>
              <a:t>[4]  </a:t>
            </a:r>
            <a:r>
              <a:rPr lang="en-US" sz="2000" b="0" i="0" dirty="0">
                <a:solidFill>
                  <a:srgbClr val="262626"/>
                </a:solidFill>
                <a:latin typeface="+mn-lt"/>
                <a:cs typeface="Calibri"/>
              </a:rPr>
              <a:t>FastAPI documentation: backend API development.</a:t>
            </a:r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2E8B9A"/>
                </a:solidFill>
                <a:latin typeface="+mn-lt"/>
                <a:cs typeface="Calibri"/>
              </a:rPr>
              <a:t>[5]  </a:t>
            </a:r>
            <a:r>
              <a:rPr lang="en-US" sz="2000" b="0" i="0" dirty="0">
                <a:solidFill>
                  <a:srgbClr val="262626"/>
                </a:solidFill>
                <a:latin typeface="+mn-lt"/>
                <a:cs typeface="Calibri"/>
              </a:rPr>
              <a:t>React.js documentation: frontend development.</a:t>
            </a:r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2E8B9A"/>
                </a:solidFill>
                <a:latin typeface="+mn-lt"/>
                <a:cs typeface="Calibri"/>
              </a:rPr>
              <a:t>[6]  </a:t>
            </a:r>
            <a:r>
              <a:rPr lang="en-US" sz="2000" b="0" i="0" dirty="0">
                <a:solidFill>
                  <a:srgbClr val="262626"/>
                </a:solidFill>
                <a:latin typeface="+mn-lt"/>
                <a:cs typeface="Calibri"/>
              </a:rPr>
              <a:t>PostgreSQL and SQLAlchemy documentation: database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1337</Words>
  <Application>Microsoft Office PowerPoint</Application>
  <PresentationFormat>Widescreen</PresentationFormat>
  <Paragraphs>263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radha gohil</cp:lastModifiedBy>
  <cp:revision>28</cp:revision>
  <dcterms:created xsi:type="dcterms:W3CDTF">2024-05-13T10:33:11Z</dcterms:created>
  <dcterms:modified xsi:type="dcterms:W3CDTF">2026-10-09T02:20:22Z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