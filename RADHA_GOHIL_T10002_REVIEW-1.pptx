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147470489" r:id="rId2"/>
    <p:sldId id="2147470492" r:id="rId3"/>
    <p:sldId id="2147470493" r:id="rId4"/>
    <p:sldId id="2147470494" r:id="rId5"/>
    <p:sldId id="2147470500" r:id="rId6"/>
    <p:sldId id="2147470495" r:id="rId7"/>
    <p:sldId id="2147470496" r:id="rId8"/>
    <p:sldId id="2147470497" r:id="rId9"/>
    <p:sldId id="2147470491" r:id="rId10"/>
    <p:sldId id="2147470487" r:id="rId11"/>
    <p:sldId id="2147470499" r:id="rId12"/>
    <p:sldId id="21474704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1E23-5FE6-4169-971A-5D36755E2E8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A916-A9E7-4CB9-A5D5-5E53B3815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59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A916-A9E7-4CB9-A5D5-5E53B38158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5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Electric Vehicle Manufacturing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NAME: RADHA GOHIL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T10002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CA5CD2-B055-9613-0BCC-4FF41EE92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5852667"/>
            <a:ext cx="2116015" cy="70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001950"/>
            <a:ext cx="12120664" cy="2276271"/>
          </a:xfrm>
        </p:spPr>
        <p:txBody>
          <a:bodyPr/>
          <a:lstStyle/>
          <a:p>
            <a:pPr algn="just"/>
            <a:r>
              <a:rPr lang="en-IN" sz="2400" dirty="0"/>
              <a:t>Problem: </a:t>
            </a:r>
            <a:r>
              <a:rPr lang="en-IN" sz="2400" b="0" dirty="0"/>
              <a:t>EV manufacturing supply chains involve numerous components, suppliers, warehouses, and procurement activities, making efficient coordination difficult.</a:t>
            </a:r>
          </a:p>
          <a:p>
            <a:pPr lvl="0" algn="just"/>
            <a:r>
              <a:rPr lang="en-IN" sz="2400" dirty="0"/>
              <a:t>Key Challenges: </a:t>
            </a:r>
            <a:r>
              <a:rPr lang="en-IN" sz="2400" b="0" dirty="0"/>
              <a:t>Component shortages, excess inventory, supplier risks, procurement delays, and difficulty selecting the most suitable supplier.</a:t>
            </a:r>
          </a:p>
          <a:p>
            <a:pPr lvl="0" algn="just"/>
            <a:r>
              <a:rPr lang="en-IN" sz="2400" dirty="0"/>
              <a:t>Process: </a:t>
            </a:r>
            <a:r>
              <a:rPr lang="en-IN" sz="2400" b="0" dirty="0"/>
              <a:t>Vehicle BOM[Bill of Materials] → Inventory Analysis → Supplier Evaluation → Risk Prediction → Supplier Ranking → Procurement Recommendation → Purchase Order → Tracking &amp; Inventory Update.</a:t>
            </a:r>
          </a:p>
          <a:p>
            <a:pPr lvl="0" algn="just"/>
            <a:r>
              <a:rPr lang="en-IN" sz="2400" dirty="0"/>
              <a:t>Proposed Solution: </a:t>
            </a:r>
            <a:r>
              <a:rPr lang="en-IN" sz="2400" b="0" dirty="0"/>
              <a:t>An AI-driven supply chain platform integrating inventory, supplier intelligence, procurement, and purchase order management.</a:t>
            </a:r>
          </a:p>
          <a:p>
            <a:pPr lvl="0" algn="just"/>
            <a:r>
              <a:rPr lang="en-IN" sz="2400" dirty="0"/>
              <a:t>AI Intelligence: </a:t>
            </a:r>
            <a:r>
              <a:rPr lang="en-IN" sz="2400" b="0" dirty="0"/>
              <a:t>Uses XGBoost for supplier risk prediction and multi-criteria analysis for supplier ranking and procurement recommendations.</a:t>
            </a:r>
          </a:p>
          <a:p>
            <a:pPr lvl="0" algn="just"/>
            <a:r>
              <a:rPr lang="en-IN" sz="2400" dirty="0"/>
              <a:t>Advanced Intelligence</a:t>
            </a:r>
            <a:r>
              <a:rPr lang="en-IN" sz="2400" b="0" dirty="0"/>
              <a:t>: Uses Neo4j Knowledge Graph, Graph-RAG, and AI Agents for connected supply-chain analysis and intelligent decision support.</a:t>
            </a:r>
          </a:p>
          <a:p>
            <a:pPr algn="just"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33417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55996" y="1001950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136570" y="11014"/>
            <a:ext cx="8055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30" y="1249085"/>
            <a:ext cx="12146770" cy="4142989"/>
          </a:xfrm>
        </p:spPr>
        <p:txBody>
          <a:bodyPr/>
          <a:lstStyle/>
          <a:p>
            <a:pPr lvl="0" algn="just"/>
            <a:r>
              <a:rPr lang="en-IN" sz="2400" b="0" dirty="0"/>
              <a:t>Develop an AI-driven supply chain management platform for EV manufacturing. </a:t>
            </a:r>
          </a:p>
          <a:p>
            <a:pPr lvl="0" algn="just"/>
            <a:r>
              <a:rPr lang="en-IN" sz="2400" b="0" dirty="0"/>
              <a:t>Optimize inventory planning using vehicle BOM[Bill of Materials], stock levels, safety stock, and component requirements. </a:t>
            </a:r>
          </a:p>
          <a:p>
            <a:pPr lvl="0" algn="just"/>
            <a:r>
              <a:rPr lang="en-IN" sz="2400" b="0" dirty="0"/>
              <a:t>Analyse supplier performance, reliability, quality, capacity, and availability. </a:t>
            </a:r>
          </a:p>
          <a:p>
            <a:pPr lvl="0" algn="just"/>
            <a:r>
              <a:rPr lang="en-IN" sz="2400" b="0" dirty="0"/>
              <a:t>Predict supplier risk using XGBoost to support proactive risk management. </a:t>
            </a:r>
          </a:p>
          <a:p>
            <a:pPr lvl="0" algn="just"/>
            <a:r>
              <a:rPr lang="en-IN" sz="2400" b="0" dirty="0"/>
              <a:t>Provide intelligent supplier ranking and procurement recommendations based on multiple decision factors. </a:t>
            </a:r>
          </a:p>
          <a:p>
            <a:pPr lvl="0" algn="just"/>
            <a:r>
              <a:rPr lang="en-IN" sz="2400" b="0" dirty="0"/>
              <a:t>Automate and track purchase orders from creation to material receipt and inventory update. </a:t>
            </a:r>
          </a:p>
          <a:p>
            <a:pPr lvl="0" algn="just"/>
            <a:r>
              <a:rPr lang="en-IN" sz="2400" b="0" dirty="0"/>
              <a:t>Build a Neo4j Knowledge Graph and Graph-RAG for connected supply-chain knowledge and context-aware querying. </a:t>
            </a:r>
          </a:p>
          <a:p>
            <a:pPr lvl="0" algn="just"/>
            <a:r>
              <a:rPr lang="en-IN" sz="2400" b="0" dirty="0"/>
              <a:t>Implement AI agents for coordinated inventory, supplier, procurement, and risk decision support.</a:t>
            </a:r>
          </a:p>
          <a:p>
            <a:pPr algn="just">
              <a:lnSpc>
                <a:spcPct val="150000"/>
              </a:lnSpc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740442" y="0"/>
            <a:ext cx="8884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/>
              <a:t>Manage EV component inventory and BOM[Bill of Materials]-based requirements. </a:t>
            </a:r>
          </a:p>
          <a:p>
            <a:pPr lvl="0"/>
            <a:r>
              <a:rPr lang="en-IN" sz="2400" b="0" dirty="0"/>
              <a:t>Analyse supplier performance, availability, and risk. </a:t>
            </a:r>
          </a:p>
          <a:p>
            <a:pPr lvl="0"/>
            <a:r>
              <a:rPr lang="en-IN" sz="2400" b="0" dirty="0"/>
              <a:t>Provide AI-based supplier ranking and procurement recommendations. </a:t>
            </a:r>
          </a:p>
          <a:p>
            <a:pPr lvl="0"/>
            <a:r>
              <a:rPr lang="en-IN" sz="2400" b="0" dirty="0"/>
              <a:t>Manage and track purchase orders and inventory updates. </a:t>
            </a:r>
          </a:p>
          <a:p>
            <a:pPr lvl="0"/>
            <a:r>
              <a:rPr lang="en-IN" sz="2400" b="0" dirty="0"/>
              <a:t>Use Knowledge Graph and Graph-RAG for connected supply-chain intelligence. </a:t>
            </a:r>
          </a:p>
          <a:p>
            <a:pPr lvl="0"/>
            <a:r>
              <a:rPr lang="en-IN" sz="2400" b="0" dirty="0"/>
              <a:t>Use AI agents for automated analysis and decision support.</a:t>
            </a:r>
          </a:p>
          <a:p>
            <a:pPr algn="just"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886203" y="57036"/>
            <a:ext cx="7305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04D2-AD43-022A-781E-AF0CA1823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542004-F4DB-7D33-DB67-DE4D2BAF4CF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FBE8D8-D37C-FCF2-BA94-240A36A42BA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3B3EA96-388A-95C0-ACD8-38655FFEC16D}"/>
              </a:ext>
            </a:extLst>
          </p:cNvPr>
          <p:cNvSpPr txBox="1"/>
          <p:nvPr/>
        </p:nvSpPr>
        <p:spPr>
          <a:xfrm>
            <a:off x="4238172" y="-9589"/>
            <a:ext cx="8084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8722B8-4878-33B6-594E-ADD99AFAD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849237"/>
              </p:ext>
            </p:extLst>
          </p:nvPr>
        </p:nvGraphicFramePr>
        <p:xfrm>
          <a:off x="221274" y="1322185"/>
          <a:ext cx="11714564" cy="47038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28641">
                  <a:extLst>
                    <a:ext uri="{9D8B030D-6E8A-4147-A177-3AD203B41FA5}">
                      <a16:colId xmlns:a16="http://schemas.microsoft.com/office/drawing/2014/main" val="3809988457"/>
                    </a:ext>
                  </a:extLst>
                </a:gridCol>
                <a:gridCol w="2928641">
                  <a:extLst>
                    <a:ext uri="{9D8B030D-6E8A-4147-A177-3AD203B41FA5}">
                      <a16:colId xmlns:a16="http://schemas.microsoft.com/office/drawing/2014/main" val="2477524976"/>
                    </a:ext>
                  </a:extLst>
                </a:gridCol>
                <a:gridCol w="2928641">
                  <a:extLst>
                    <a:ext uri="{9D8B030D-6E8A-4147-A177-3AD203B41FA5}">
                      <a16:colId xmlns:a16="http://schemas.microsoft.com/office/drawing/2014/main" val="3568668912"/>
                    </a:ext>
                  </a:extLst>
                </a:gridCol>
                <a:gridCol w="2928641">
                  <a:extLst>
                    <a:ext uri="{9D8B030D-6E8A-4147-A177-3AD203B41FA5}">
                      <a16:colId xmlns:a16="http://schemas.microsoft.com/office/drawing/2014/main" val="904458276"/>
                    </a:ext>
                  </a:extLst>
                </a:gridCol>
              </a:tblGrid>
              <a:tr h="437568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Study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/>
                        <a:t>Approach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/>
                        <a:t>Key Contribution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/>
                        <a:t>Limitation / Research Gap</a:t>
                      </a:r>
                      <a:endParaRPr 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692256"/>
                  </a:ext>
                </a:extLst>
              </a:tr>
              <a:tr h="142209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EV Supply Chain Management – Systematic Review 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Systematic literature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Identified major EV supply-chain challenges including sustainability, sourcing, cost and supply risks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Limited focus on integrated AI-based decision-making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262304"/>
                  </a:ext>
                </a:extLst>
              </a:tr>
              <a:tr h="142209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EV Battery Supply Chain &amp; Critical Materials 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Battery and critical-material supply-chain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Identified material dependency, sourcing risks and battery supply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Focused mainly on batteries/materials rather than the complete manufacturing supply 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560056"/>
                  </a:ext>
                </a:extLst>
              </a:tr>
              <a:tr h="142209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AI for Supply Chain Resilience 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Machine Learning and AI-based supply-chain analysis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Demonstrated the potential of AI for prediction, disruption detection and resilient supply chains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AI solutions are mostly applied to individual supply-chain problems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938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41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3962401" y="57036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3B046D-6299-8BF9-DDF3-CFD3D35C5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796855"/>
              </p:ext>
            </p:extLst>
          </p:nvPr>
        </p:nvGraphicFramePr>
        <p:xfrm>
          <a:off x="255995" y="1234637"/>
          <a:ext cx="11378284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4571">
                  <a:extLst>
                    <a:ext uri="{9D8B030D-6E8A-4147-A177-3AD203B41FA5}">
                      <a16:colId xmlns:a16="http://schemas.microsoft.com/office/drawing/2014/main" val="3809988457"/>
                    </a:ext>
                  </a:extLst>
                </a:gridCol>
                <a:gridCol w="2844571">
                  <a:extLst>
                    <a:ext uri="{9D8B030D-6E8A-4147-A177-3AD203B41FA5}">
                      <a16:colId xmlns:a16="http://schemas.microsoft.com/office/drawing/2014/main" val="2477524976"/>
                    </a:ext>
                  </a:extLst>
                </a:gridCol>
                <a:gridCol w="2844571">
                  <a:extLst>
                    <a:ext uri="{9D8B030D-6E8A-4147-A177-3AD203B41FA5}">
                      <a16:colId xmlns:a16="http://schemas.microsoft.com/office/drawing/2014/main" val="3568668912"/>
                    </a:ext>
                  </a:extLst>
                </a:gridCol>
                <a:gridCol w="2844571">
                  <a:extLst>
                    <a:ext uri="{9D8B030D-6E8A-4147-A177-3AD203B41FA5}">
                      <a16:colId xmlns:a16="http://schemas.microsoft.com/office/drawing/2014/main" val="904458276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r>
                        <a:rPr lang="en-US" sz="1800" b="1" dirty="0"/>
                        <a:t>Study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Approach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Key Contribution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Limitation / Research Gap</a:t>
                      </a:r>
                      <a:endParaRPr 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692256"/>
                  </a:ext>
                </a:extLst>
              </a:tr>
              <a:tr h="647525">
                <a:tc>
                  <a:txBody>
                    <a:bodyPr/>
                    <a:lstStyle/>
                    <a:p>
                      <a:r>
                        <a:rPr lang="en-US" sz="1800" b="1" dirty="0"/>
                        <a:t>ML-Based Backorder Prediction 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Machine Learning-based inventory/backorder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Improved early identification of potential stock shortages and replenishment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Focused on inventory prediction without supplier and procurement intelligence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815318"/>
                  </a:ext>
                </a:extLst>
              </a:tr>
              <a:tr h="526114">
                <a:tc>
                  <a:txBody>
                    <a:bodyPr/>
                    <a:lstStyle/>
                    <a:p>
                      <a:r>
                        <a:rPr lang="en-US" sz="1800" b="1" dirty="0"/>
                        <a:t>Knowledge Graphs &amp; LLMs for Supply Chain Visibility 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Knowledge Graph + Large 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Improved supply-chain visibility, relationship discovery and dependency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Limited integration with operational inventory and procurement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085025"/>
                  </a:ext>
                </a:extLst>
              </a:tr>
              <a:tr h="526114">
                <a:tc>
                  <a:txBody>
                    <a:bodyPr/>
                    <a:lstStyle/>
                    <a:p>
                      <a:r>
                        <a:rPr lang="en-US" sz="1800" b="1" dirty="0"/>
                        <a:t>Supplier Evaluation &amp; Risk Prediction for EV Industry 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Multi-criteria supplier evaluation + 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Enables supplier evaluation and data-driven supplier risk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Primarily supplier-focused; lacks complete end-to-end EV supply-chain intelligence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593720"/>
                  </a:ext>
                </a:extLst>
              </a:tr>
              <a:tr h="890347">
                <a:tc>
                  <a:txBody>
                    <a:bodyPr/>
                    <a:lstStyle/>
                    <a:p>
                      <a:r>
                        <a:rPr lang="en-US" sz="1800" b="1"/>
                        <a:t>Proposed System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ML + XGBoost + Optimization + Knowledge Graph + Graph-RAG + Agentic AI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Integrates demand forecasting, BOM planning, inventory, supplier risk, procurement, tracking and intelligent decision support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Aims to bridge the gap between isolated AI solutions and an integrated end-to-end EV supply-chain platform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algn="just"/>
            <a:r>
              <a:rPr lang="en-US" sz="2400" dirty="0">
                <a:latin typeface="+mn-lt"/>
              </a:rPr>
              <a:t>Existing studies </a:t>
            </a:r>
            <a:r>
              <a:rPr lang="en-US" sz="2400" b="0" dirty="0">
                <a:latin typeface="+mn-lt"/>
              </a:rPr>
              <a:t>usually address individual problems such as EV battery supply risk, supplier evaluation, demand/backorder prediction, resilience, or Knowledge Graph-based visibility. There is limited work combining these capabilities into a single end-to-end EV manufacturing supply-chain platform.</a:t>
            </a:r>
          </a:p>
          <a:p>
            <a:pPr algn="just"/>
            <a:endParaRPr lang="en-US" sz="2400" b="0" dirty="0">
              <a:latin typeface="+mn-lt"/>
            </a:endParaRPr>
          </a:p>
          <a:p>
            <a:pPr algn="just"/>
            <a:r>
              <a:rPr lang="en-US" sz="2400" dirty="0">
                <a:latin typeface="+mn-lt"/>
              </a:rPr>
              <a:t>Proposed Solution:</a:t>
            </a:r>
          </a:p>
          <a:p>
            <a:pPr algn="just"/>
            <a:r>
              <a:rPr lang="en-US" sz="2400" b="0" dirty="0">
                <a:latin typeface="+mn-lt"/>
              </a:rPr>
              <a:t>BOM[</a:t>
            </a:r>
            <a:r>
              <a:rPr lang="en-IN" sz="2400" b="0" dirty="0"/>
              <a:t>Bill of Materials</a:t>
            </a:r>
            <a:r>
              <a:rPr lang="en-US" sz="2400" b="0" dirty="0">
                <a:latin typeface="+mn-lt"/>
              </a:rPr>
              <a:t>] Planning → Inventory Optimization → Supplier Risk Prediction → Intelligent Procurement → Purchase Order Tracking → Knowledge Graph → Graph-RAG → Agentic AI Decision Support.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049487" y="57036"/>
            <a:ext cx="81425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lvl="0"/>
            <a:r>
              <a:rPr lang="en-IN" sz="2400" dirty="0"/>
              <a:t>Tech Stack: </a:t>
            </a:r>
            <a:r>
              <a:rPr lang="en-IN" sz="2400" b="0" dirty="0"/>
              <a:t>React.js, Fast-API, PostgreSQL, Python, XGBoost, Neo4j, Graph-RAG, LLMs, and Agentic AI.</a:t>
            </a:r>
          </a:p>
          <a:p>
            <a:pPr lvl="0"/>
            <a:r>
              <a:rPr lang="en-IN" sz="2400" dirty="0"/>
              <a:t>Core Modules: </a:t>
            </a:r>
            <a:r>
              <a:rPr lang="en-IN" sz="2400" b="0" dirty="0"/>
              <a:t>BOM</a:t>
            </a:r>
            <a:r>
              <a:rPr lang="en-US" sz="2400" b="0" dirty="0"/>
              <a:t> [</a:t>
            </a:r>
            <a:r>
              <a:rPr lang="en-IN" sz="2400" b="0" dirty="0"/>
              <a:t>Bill of Materials</a:t>
            </a:r>
            <a:r>
              <a:rPr lang="en-US" sz="2400" b="0" dirty="0"/>
              <a:t>]</a:t>
            </a:r>
            <a:r>
              <a:rPr lang="en-IN" sz="2400" b="0" dirty="0"/>
              <a:t> planning, inventory management, supplier intelligence, procurement, risk analysis, and purchase order tracking.</a:t>
            </a:r>
          </a:p>
          <a:p>
            <a:pPr lvl="0"/>
            <a:r>
              <a:rPr lang="en-IN" sz="2400" dirty="0"/>
              <a:t>AI Intelligence: </a:t>
            </a:r>
            <a:r>
              <a:rPr lang="en-IN" sz="2400" b="0" dirty="0"/>
              <a:t>XGBoost-based supplier risk prediction, multi-criteria supplier ranking, and intelligent procurement recommendations.</a:t>
            </a:r>
          </a:p>
          <a:p>
            <a:pPr lvl="0"/>
            <a:r>
              <a:rPr lang="en-IN" sz="2400" dirty="0"/>
              <a:t>Knowledge Intelligence</a:t>
            </a:r>
            <a:r>
              <a:rPr lang="en-IN" sz="2400" b="0" dirty="0"/>
              <a:t>: Neo4j Knowledge Graph and Graph-RAG for connected supply-chain analysis and natural-language querying.</a:t>
            </a:r>
          </a:p>
          <a:p>
            <a:pPr lvl="0"/>
            <a:r>
              <a:rPr lang="en-IN" sz="2400" dirty="0"/>
              <a:t>Agentic AI: </a:t>
            </a:r>
            <a:r>
              <a:rPr lang="en-IN" sz="2400" b="0" dirty="0"/>
              <a:t>Specialized AI agents for inventory, supplier, procurement, and risk analysis with automated decision support.</a:t>
            </a:r>
          </a:p>
          <a:p>
            <a:pPr algn="just"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947887" y="57036"/>
            <a:ext cx="8244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latin typeface="+mn-lt"/>
              </a:rPr>
              <a:t>Module 1: Inventory Management — Intelligent Inventory Planning</a:t>
            </a:r>
          </a:p>
          <a:p>
            <a:pPr lvl="0"/>
            <a:r>
              <a:rPr lang="en-IN" sz="2400" b="0" dirty="0">
                <a:latin typeface="+mn-lt"/>
              </a:rPr>
              <a:t>Vehicle BOM</a:t>
            </a:r>
            <a:r>
              <a:rPr lang="en-US" sz="2400" b="0" dirty="0"/>
              <a:t> [</a:t>
            </a:r>
            <a:r>
              <a:rPr lang="en-IN" sz="2400" b="0" dirty="0"/>
              <a:t>Bill of Materials</a:t>
            </a:r>
            <a:r>
              <a:rPr lang="en-US" sz="2400" b="0" dirty="0"/>
              <a:t>] </a:t>
            </a:r>
            <a:r>
              <a:rPr lang="en-IN" sz="2400" b="0" dirty="0">
                <a:latin typeface="+mn-lt"/>
              </a:rPr>
              <a:t>-based component requirements </a:t>
            </a:r>
          </a:p>
          <a:p>
            <a:pPr lvl="0"/>
            <a:r>
              <a:rPr lang="en-IN" sz="2400" b="0" dirty="0">
                <a:latin typeface="+mn-lt"/>
              </a:rPr>
              <a:t>Stock, safety stock, incoming stock &amp; shortage analysis </a:t>
            </a:r>
          </a:p>
          <a:p>
            <a:pPr lvl="0"/>
            <a:r>
              <a:rPr lang="en-IN" sz="2400" b="0" dirty="0">
                <a:latin typeface="+mn-lt"/>
              </a:rPr>
              <a:t>Multi-warehouse inventory and transaction management </a:t>
            </a:r>
          </a:p>
          <a:p>
            <a:pPr lvl="0"/>
            <a:r>
              <a:rPr lang="en-IN" sz="2400" b="0" dirty="0">
                <a:latin typeface="+mn-lt"/>
              </a:rPr>
              <a:t>Procurement quantity &amp; urgency identification </a:t>
            </a:r>
          </a:p>
          <a:p>
            <a:pPr marL="0" indent="0">
              <a:buNone/>
            </a:pPr>
            <a:endParaRPr lang="en-IN" sz="2400" b="0" dirty="0">
              <a:latin typeface="+mn-lt"/>
            </a:endParaRP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Module 2: Supplier Intelligence — Supplier Performance &amp; Risk Analysis</a:t>
            </a:r>
          </a:p>
          <a:p>
            <a:pPr lvl="0"/>
            <a:r>
              <a:rPr lang="en-IN" sz="2400" b="0" dirty="0">
                <a:latin typeface="+mn-lt"/>
              </a:rPr>
              <a:t>Supplier quality, reliability &amp; historical performance analysis </a:t>
            </a:r>
          </a:p>
          <a:p>
            <a:pPr lvl="0"/>
            <a:r>
              <a:rPr lang="en-IN" sz="2400" b="0" dirty="0">
                <a:latin typeface="+mn-lt"/>
              </a:rPr>
              <a:t>XGBoost-based supplier risk prediction </a:t>
            </a:r>
          </a:p>
          <a:p>
            <a:pPr lvl="0"/>
            <a:r>
              <a:rPr lang="en-IN" sz="2400" b="0" dirty="0">
                <a:latin typeface="+mn-lt"/>
              </a:rPr>
              <a:t>Supplier capacity, availability &amp; lead-time analysis </a:t>
            </a:r>
          </a:p>
          <a:p>
            <a:pPr lvl="0"/>
            <a:r>
              <a:rPr lang="en-IN" sz="2400" b="0" dirty="0">
                <a:latin typeface="+mn-lt"/>
              </a:rPr>
              <a:t>Supplier performance monitoring </a:t>
            </a:r>
          </a:p>
          <a:p>
            <a:pPr marL="0" indent="0"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3831771" y="57036"/>
            <a:ext cx="8360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2400" dirty="0">
                <a:latin typeface="+mn-lt"/>
              </a:rPr>
              <a:t>Module 3: Intelligent Procurement — AI-Based Procurement Decision</a:t>
            </a:r>
          </a:p>
          <a:p>
            <a:pPr lvl="0"/>
            <a:r>
              <a:rPr lang="en-IN" sz="2400" b="0" dirty="0">
                <a:latin typeface="+mn-lt"/>
              </a:rPr>
              <a:t>Multi-criteria supplier ranking </a:t>
            </a:r>
          </a:p>
          <a:p>
            <a:pPr lvl="0"/>
            <a:r>
              <a:rPr lang="en-IN" sz="2400" b="0" dirty="0">
                <a:latin typeface="+mn-lt"/>
              </a:rPr>
              <a:t>Best supplier &amp; procurement quantity recommendation </a:t>
            </a:r>
          </a:p>
          <a:p>
            <a:pPr lvl="0"/>
            <a:r>
              <a:rPr lang="en-IN" sz="2400" b="0" dirty="0">
                <a:latin typeface="+mn-lt"/>
              </a:rPr>
              <a:t>Cost, capacity, MOQ, availability &amp; lead-time evaluation </a:t>
            </a:r>
          </a:p>
          <a:p>
            <a:pPr lvl="0"/>
            <a:r>
              <a:rPr lang="en-IN" sz="2400" b="0" dirty="0">
                <a:latin typeface="+mn-lt"/>
              </a:rPr>
              <a:t>Risk-aware procurement decision support </a:t>
            </a:r>
          </a:p>
          <a:p>
            <a:pPr lvl="0"/>
            <a:endParaRPr lang="en-IN" sz="2400" b="0" dirty="0">
              <a:latin typeface="+mn-lt"/>
            </a:endParaRPr>
          </a:p>
          <a:p>
            <a:r>
              <a:rPr lang="en-IN" sz="2400" dirty="0">
                <a:latin typeface="+mn-lt"/>
              </a:rPr>
              <a:t>Module 4: Purchase Order Management — Procurement Execution &amp; Tracking</a:t>
            </a:r>
          </a:p>
          <a:p>
            <a:pPr lvl="0"/>
            <a:r>
              <a:rPr lang="en-IN" sz="2400" b="0" dirty="0">
                <a:latin typeface="+mn-lt"/>
              </a:rPr>
              <a:t>Automated purchase order generation </a:t>
            </a:r>
          </a:p>
          <a:p>
            <a:pPr lvl="0"/>
            <a:r>
              <a:rPr lang="en-IN" sz="2400" b="0" dirty="0">
                <a:latin typeface="+mn-lt"/>
              </a:rPr>
              <a:t>Confirmation, dispatch, transit &amp; delivery tracking </a:t>
            </a:r>
          </a:p>
          <a:p>
            <a:pPr lvl="0"/>
            <a:r>
              <a:rPr lang="en-IN" sz="2400" b="0" dirty="0">
                <a:latin typeface="+mn-lt"/>
              </a:rPr>
              <a:t>Partial/full material receipt </a:t>
            </a:r>
          </a:p>
          <a:p>
            <a:pPr lvl="0"/>
            <a:r>
              <a:rPr lang="en-IN" sz="2400" b="0" dirty="0">
                <a:latin typeface="+mn-lt"/>
              </a:rPr>
              <a:t>Inventory &amp; supplier availability updates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31771" y="57036"/>
            <a:ext cx="8360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64379-A4AA-096B-0A1C-DADCBB202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8A5802-C897-957F-4964-1161B2123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latin typeface="+mn-lt"/>
              </a:rPr>
              <a:t>Module 5: Supply Chain Knowledge Intelligence — Knowledge Graph &amp; Graph-RAG</a:t>
            </a:r>
          </a:p>
          <a:p>
            <a:pPr lvl="0"/>
            <a:r>
              <a:rPr lang="en-IN" sz="2400" b="0" dirty="0">
                <a:latin typeface="+mn-lt"/>
              </a:rPr>
              <a:t>Vehicle–BOM–component–supplier–inventory–PO relationship mapping </a:t>
            </a:r>
          </a:p>
          <a:p>
            <a:pPr lvl="0"/>
            <a:r>
              <a:rPr lang="en-IN" sz="2400" b="0" dirty="0">
                <a:latin typeface="+mn-lt"/>
              </a:rPr>
              <a:t>Neo4j-based supply-chain Knowledge Graph </a:t>
            </a:r>
          </a:p>
          <a:p>
            <a:pPr lvl="0"/>
            <a:r>
              <a:rPr lang="en-IN" sz="2400" b="0" dirty="0">
                <a:latin typeface="+mn-lt"/>
              </a:rPr>
              <a:t>Graph-RAG + LLM-based intelligent querying </a:t>
            </a:r>
          </a:p>
          <a:p>
            <a:pPr lvl="0"/>
            <a:r>
              <a:rPr lang="en-IN" sz="2400" b="0" dirty="0">
                <a:latin typeface="+mn-lt"/>
              </a:rPr>
              <a:t>Context-aware supply-chain knowledge retrieval </a:t>
            </a:r>
          </a:p>
          <a:p>
            <a:pPr lvl="0"/>
            <a:endParaRPr lang="en-IN" sz="2400" b="0" dirty="0">
              <a:latin typeface="+mn-lt"/>
            </a:endParaRP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Module 6: Agentic AI Decision Support — Autonomous Supply Chain Intelligence</a:t>
            </a:r>
          </a:p>
          <a:p>
            <a:pPr lvl="0"/>
            <a:r>
              <a:rPr lang="en-IN" sz="2400" b="0" dirty="0">
                <a:latin typeface="+mn-lt"/>
              </a:rPr>
              <a:t>Inventory, Supplier, Procurement &amp; Risk AI agents </a:t>
            </a:r>
          </a:p>
          <a:p>
            <a:pPr lvl="0"/>
            <a:r>
              <a:rPr lang="en-IN" sz="2400" b="0" dirty="0">
                <a:latin typeface="+mn-lt"/>
              </a:rPr>
              <a:t>Multi-agent coordination and reasoning </a:t>
            </a:r>
          </a:p>
          <a:p>
            <a:pPr lvl="0"/>
            <a:r>
              <a:rPr lang="en-IN" sz="2400" b="0" dirty="0">
                <a:latin typeface="+mn-lt"/>
              </a:rPr>
              <a:t>Intelligent alerts &amp; recommendations </a:t>
            </a:r>
          </a:p>
          <a:p>
            <a:pPr lvl="0"/>
            <a:r>
              <a:rPr lang="en-IN" sz="2400" b="0" dirty="0">
                <a:latin typeface="+mn-lt"/>
              </a:rPr>
              <a:t>Explainable, context-aware decision support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E266B-2A12-DBCF-FA41-FCD7B17DB56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7C216C-8234-AE1F-8D03-0C30EB577FE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D41B2A0-A010-B299-5A9C-58ECA5406FD1}"/>
              </a:ext>
            </a:extLst>
          </p:cNvPr>
          <p:cNvSpPr txBox="1"/>
          <p:nvPr/>
        </p:nvSpPr>
        <p:spPr>
          <a:xfrm>
            <a:off x="3715657" y="57036"/>
            <a:ext cx="8476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753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B57E70-AA8D-2247-7C2B-2452B8BBDD59}"/>
              </a:ext>
            </a:extLst>
          </p:cNvPr>
          <p:cNvSpPr txBox="1"/>
          <p:nvPr/>
        </p:nvSpPr>
        <p:spPr>
          <a:xfrm>
            <a:off x="4247516" y="44173"/>
            <a:ext cx="79444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Intelligent Supply Chain Management Platform for Electric Vehicle Manufacturing</a:t>
            </a:r>
          </a:p>
          <a:p>
            <a:pPr algn="r"/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8A8F3-ED21-2A77-C00A-ADDA200A0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42"/>
          <a:stretch>
            <a:fillRect/>
          </a:stretch>
        </p:blipFill>
        <p:spPr>
          <a:xfrm>
            <a:off x="256382" y="569626"/>
            <a:ext cx="11825689" cy="55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956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1126</Words>
  <Application>Microsoft Office PowerPoint</Application>
  <PresentationFormat>Widescreen</PresentationFormat>
  <Paragraphs>139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GohilRadha Maheshbhai</cp:lastModifiedBy>
  <cp:revision>22</cp:revision>
  <dcterms:created xsi:type="dcterms:W3CDTF">2024-05-13T10:33:11Z</dcterms:created>
  <dcterms:modified xsi:type="dcterms:W3CDTF">2026-10-05T04:21:42Z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