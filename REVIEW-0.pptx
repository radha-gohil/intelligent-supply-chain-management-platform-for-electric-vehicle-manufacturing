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3" r:id="rId5"/>
    <p:sldId id="264" r:id="rId6"/>
    <p:sldId id="265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AF53-A683-1D95-D6BE-56E17F59E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6B0FA0-A785-4D50-0930-014D9A58A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3BEA5-D58F-B3C6-3E67-5BCBF5A32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5DA1-351B-6978-2090-3635FD54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2CE36-B64A-BBE1-B98E-04C09215B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88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C7471-0FAB-CAF8-2704-D7643C0F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00899-7841-B03B-7000-0262AB7A8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45A4C-CD6B-1C35-9808-DD654269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94F4F-F843-0ACB-7DAF-B634845C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48024-7BF8-6560-0E8D-DBD3BFFE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405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16C1-6211-8A66-BB24-2277172B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7386C-C1C3-7B90-E14C-CA9E526A1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77D29-1B8D-4DE0-80AE-E3CE1C31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64BE0-F88E-FFE1-31F0-77D558D7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3B55E-CEEA-8802-E459-22248725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45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4BC5-326A-768A-CBAB-014A5E2A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40CED-A53D-7CB3-F03E-2988D43BA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D1934-D12F-EBE0-299D-3EDF7E581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D50DF-2E58-713A-7AB0-CA62A4B1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924EA-7527-CB78-043E-52D5CAC70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2443B-079D-09E0-CBF3-16C4BFD9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45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3F1F-52DE-1C1D-A613-B889DC64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898C7-6F8C-B99C-B314-9416B1783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257EC-D42F-5531-5E1C-DCD944037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68320-2771-2331-EFF0-62E2CFD6A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BCA74B-5C45-CB47-8495-EF16B0BC2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FE0F8A-FB2F-7BE6-0BB5-2855986D8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8B616B-5321-5510-0434-E27A183C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1DACC-D847-3338-10F6-D8907B30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7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5F0F-12CB-CFE6-9832-2EDAFB2A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1F7FB-7298-AFCD-F030-5E6B0C80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08EF7-7CB4-2A84-C0FD-9CF4D6A9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F68A0-5EC5-6AE5-33DD-5359F5300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194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5AE98-B023-2518-DB91-F188AD98B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FC8E-8999-172C-16C7-0716E64D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2EC22-5EF1-A60E-F6E8-265DF60B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6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03B5A-64CC-4232-8231-2A76A0FB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3D23C-F743-C4C9-057A-2FE21B152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A9C3D-EDAB-F67A-6F15-81C724AC2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ABCB9-A25D-C77F-1CD6-EEB89709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2E4FC-57B1-10E2-B345-51093E2D9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2208C-D958-CE6A-D20B-24C9AC85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69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07AB8-84BF-D806-D982-1F2B16DC1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81B08-8E3A-6034-FFF2-C20611AB9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F62F-D5B0-E1C9-5BC1-A111EFCC8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206A0-A721-E053-F8EC-2DA03CC1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F4397-4B71-E6C8-3345-C24859D1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E9B4E-7AE2-1B2D-2FFE-492EDF839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20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8480-FC68-8ABC-F0DF-33BCDB10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744D5-9902-4C0A-B157-EBB8FC61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5C55E-D0DB-16E8-3F93-55E178C1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5C29B-9B03-8606-7D42-3E75E1CC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A0B83-886F-1A23-2ADE-9558E282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71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CB40AA-80B6-FC29-A44F-A41B6C8A2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CB3CD-DEDB-AE1B-F7B3-C0AC27988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B7B92-B263-66BD-847B-C944597BA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1E3C7-5E62-6724-D901-AC83FCAFA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F49FF-4F6A-8B2D-361D-EF1BE2AE5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36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918A5-0035-C9CC-6BF1-6116FF14F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082E3-ED37-3793-1D23-38B071901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98738-7664-C49F-2E20-C87C80117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FB931-78A8-4C82-8174-F611779788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0235A-C3F4-C85B-1325-5D9574D6F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23A4B-C595-C109-24D2-D1DBB9063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FA09F-2F12-4651-A0F7-343E23DA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27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8A2C-CCC6-A2D8-6EDE-869A3DC5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REVIEW - 0</a:t>
            </a:r>
            <a:endParaRPr lang="en-IN" b="1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B2837-FB6F-6E48-7263-40AE91D3A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61365"/>
          </a:xfrm>
        </p:spPr>
        <p:txBody>
          <a:bodyPr/>
          <a:lstStyle/>
          <a:p>
            <a:r>
              <a:rPr lang="en-GB" dirty="0"/>
              <a:t>NAME:= RADHA MAHESHBHAI GOHIL</a:t>
            </a:r>
          </a:p>
          <a:p>
            <a:endParaRPr lang="en-GB" dirty="0"/>
          </a:p>
          <a:p>
            <a:r>
              <a:rPr lang="en-GB" dirty="0"/>
              <a:t>COLLEGE:= VELLORE INSTITUTE OF TECHNOLOGY, CHENNAI</a:t>
            </a:r>
          </a:p>
          <a:p>
            <a:endParaRPr lang="en-GB" dirty="0"/>
          </a:p>
          <a:p>
            <a:r>
              <a:rPr lang="en-GB" dirty="0"/>
              <a:t>BRANCH:= </a:t>
            </a:r>
            <a:r>
              <a:rPr lang="en-GB" dirty="0" err="1"/>
              <a:t>Mtech</a:t>
            </a:r>
            <a:r>
              <a:rPr lang="en-GB" dirty="0"/>
              <a:t> Artificial Intelligence and Data Science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151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B5901-CFC1-062C-1C99-375C2D571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-1708879"/>
            <a:ext cx="12192000" cy="8949128"/>
          </a:xfrm>
        </p:spPr>
        <p:txBody>
          <a:bodyPr>
            <a:normAutofit fontScale="92500" lnSpcReduction="20000"/>
          </a:bodyPr>
          <a:lstStyle/>
          <a:p>
            <a:endParaRPr lang="en-GB" sz="32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32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32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32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32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32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/>
            <a:r>
              <a:rPr lang="en-GB" sz="32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PROJECT:=1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b="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Intelligent Supply Chain Management Platform for Electric Vehicle Manufacturing</a:t>
            </a:r>
          </a:p>
          <a:p>
            <a:pPr algn="just"/>
            <a:endParaRPr lang="en-IN" sz="3200" b="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/>
            <a:endParaRPr lang="en-IN" sz="3200" b="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/>
            <a:r>
              <a:rPr lang="en-GB" sz="32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PROJECT:=2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b="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Autonomous Multi-Agent Cybersecurity Défense &amp; Incident Intelligence Platform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sz="32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sz="3200" b="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sz="3200" b="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GB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en-IN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283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D6515-AF33-DECC-4248-034F2B243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 fontScale="90000"/>
          </a:bodyPr>
          <a:lstStyle/>
          <a:p>
            <a:pPr algn="just"/>
            <a:r>
              <a:rPr lang="en-GB" sz="3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PROJECT:=1</a:t>
            </a:r>
            <a:br>
              <a:rPr lang="en-GB" sz="3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IN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Intelligent Supply Chain Management Platform for Electric Vehicle Manufacturing</a:t>
            </a:r>
            <a:br>
              <a:rPr lang="en-IN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3066B-E699-96CD-C985-347282391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4950"/>
            <a:ext cx="6253256" cy="5734050"/>
          </a:xfrm>
        </p:spPr>
        <p:txBody>
          <a:bodyPr>
            <a:normAutofit fontScale="55000" lnSpcReduction="20000"/>
          </a:bodyPr>
          <a:lstStyle/>
          <a:p>
            <a:pPr algn="just" fontAlgn="t">
              <a:buNone/>
            </a:pPr>
            <a:r>
              <a:rPr lang="en-IN" b="1" dirty="0"/>
              <a:t>Problem Statement</a:t>
            </a:r>
          </a:p>
          <a:p>
            <a:pPr algn="just" fontAlgn="t">
              <a:buNone/>
            </a:pPr>
            <a:r>
              <a:rPr lang="en-IN" sz="3200" dirty="0"/>
              <a:t> EV manufacturers face challenges such as demand</a:t>
            </a:r>
          </a:p>
          <a:p>
            <a:pPr algn="just" fontAlgn="t">
              <a:buNone/>
            </a:pPr>
            <a:r>
              <a:rPr lang="en-IN" sz="3200" dirty="0"/>
              <a:t> fluctuations, inventory shortages, supplier delays, and</a:t>
            </a:r>
          </a:p>
          <a:p>
            <a:pPr algn="just" fontAlgn="t">
              <a:buNone/>
            </a:pPr>
            <a:r>
              <a:rPr lang="en-IN" sz="3200" dirty="0"/>
              <a:t> procurement inefficiencies. Existing systems are</a:t>
            </a:r>
          </a:p>
          <a:p>
            <a:pPr algn="just" fontAlgn="t">
              <a:buNone/>
            </a:pPr>
            <a:r>
              <a:rPr lang="en-IN" sz="3200" dirty="0"/>
              <a:t> reactive and require manual analysis, leading to</a:t>
            </a:r>
          </a:p>
          <a:p>
            <a:pPr algn="just" fontAlgn="t">
              <a:buNone/>
            </a:pPr>
            <a:r>
              <a:rPr lang="en-IN" sz="3200" dirty="0"/>
              <a:t> production disruptions and increased operational costs.</a:t>
            </a:r>
          </a:p>
          <a:p>
            <a:pPr algn="just" fontAlgn="t">
              <a:buNone/>
            </a:pPr>
            <a:endParaRPr lang="en-IN" sz="3200" dirty="0"/>
          </a:p>
          <a:p>
            <a:pPr algn="just" fontAlgn="t">
              <a:buNone/>
            </a:pPr>
            <a:r>
              <a:rPr lang="en-IN" b="1" dirty="0"/>
              <a:t>Objectives</a:t>
            </a:r>
          </a:p>
          <a:p>
            <a:pPr marL="342900" lvl="0" indent="-342900" algn="just" fontAlgn="t"/>
            <a:r>
              <a:rPr lang="en-IN" sz="2900" dirty="0"/>
              <a:t>Forecast EV demand and battery requirements using AI.</a:t>
            </a:r>
          </a:p>
          <a:p>
            <a:pPr marL="342900" lvl="0" indent="-342900" algn="just" fontAlgn="t"/>
            <a:r>
              <a:rPr lang="en-IN" sz="2900" dirty="0"/>
              <a:t>Optimize inventory levels to avoid shortages and overstocking.</a:t>
            </a:r>
          </a:p>
          <a:p>
            <a:pPr marL="342900" lvl="0" indent="-342900" algn="just" fontAlgn="t"/>
            <a:r>
              <a:rPr lang="en-IN" sz="2900" dirty="0"/>
              <a:t>Analyse supplier performance and predict risks.</a:t>
            </a:r>
          </a:p>
          <a:p>
            <a:pPr marL="342900" lvl="0" indent="-342900" algn="just" fontAlgn="t"/>
            <a:r>
              <a:rPr lang="en-IN" sz="2900" dirty="0"/>
              <a:t>Build a Knowledge Graph to understand supply chain dependencies.</a:t>
            </a:r>
          </a:p>
          <a:p>
            <a:pPr marL="342900" lvl="0" indent="-342900" algn="just" fontAlgn="t"/>
            <a:r>
              <a:rPr lang="en-IN" sz="2900" dirty="0"/>
              <a:t>Develop a Graph-RAG assistant for document-based query answering.</a:t>
            </a:r>
          </a:p>
          <a:p>
            <a:pPr marL="342900" lvl="0" indent="-342900" algn="just" fontAlgn="t"/>
            <a:r>
              <a:rPr lang="en-IN" sz="2900" dirty="0"/>
              <a:t>Implement AI agents for intelligent decision support.</a:t>
            </a:r>
          </a:p>
          <a:p>
            <a:pPr marL="342900" lvl="0" indent="-342900" algn="just" fontAlgn="t"/>
            <a:r>
              <a:rPr lang="en-IN" sz="2900" dirty="0"/>
              <a:t>Generate procurement and supply chain recommendations</a:t>
            </a:r>
            <a:r>
              <a:rPr lang="en-IN" dirty="0"/>
              <a:t>.</a:t>
            </a:r>
          </a:p>
          <a:p>
            <a:pPr algn="just" fontAlgn="t">
              <a:buNone/>
            </a:pPr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9AE35E-7495-5F15-DD5B-33063336701E}"/>
              </a:ext>
            </a:extLst>
          </p:cNvPr>
          <p:cNvSpPr txBox="1">
            <a:spLocks/>
          </p:cNvSpPr>
          <p:nvPr/>
        </p:nvSpPr>
        <p:spPr>
          <a:xfrm>
            <a:off x="6591300" y="2169661"/>
            <a:ext cx="5439223" cy="347639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b="1" dirty="0"/>
              <a:t>E</a:t>
            </a:r>
            <a:r>
              <a:rPr lang="en-IN" sz="2400" b="1" dirty="0"/>
              <a:t>xpected Outcomes</a:t>
            </a:r>
          </a:p>
          <a:p>
            <a:pPr algn="just" fontAlgn="t"/>
            <a:r>
              <a:rPr lang="en-IN" sz="2400" dirty="0"/>
              <a:t>Accurate EV demand forecasting</a:t>
            </a:r>
          </a:p>
          <a:p>
            <a:pPr algn="just" fontAlgn="t"/>
            <a:r>
              <a:rPr lang="en-IN" sz="2400" dirty="0"/>
              <a:t>Optimized inventory management</a:t>
            </a:r>
          </a:p>
          <a:p>
            <a:pPr algn="just" fontAlgn="t"/>
            <a:r>
              <a:rPr lang="en-IN" sz="2400" dirty="0"/>
              <a:t> Early detection of supplier risks</a:t>
            </a:r>
          </a:p>
          <a:p>
            <a:pPr algn="just" fontAlgn="t"/>
            <a:r>
              <a:rPr lang="en-IN" sz="2400" dirty="0"/>
              <a:t> Intelligent procurement recommendations</a:t>
            </a:r>
          </a:p>
          <a:p>
            <a:pPr algn="just" fontAlgn="t"/>
            <a:r>
              <a:rPr lang="en-IN" sz="2400" dirty="0"/>
              <a:t> Faster decision-making using AI agents</a:t>
            </a:r>
          </a:p>
          <a:p>
            <a:pPr algn="just" fontAlgn="t"/>
            <a:r>
              <a:rPr lang="en-IN" sz="2400" dirty="0"/>
              <a:t> Graph-RAG-based document intelligence</a:t>
            </a:r>
          </a:p>
          <a:p>
            <a:pPr algn="just" fontAlgn="t"/>
            <a:r>
              <a:rPr lang="en-IN" sz="2400" dirty="0"/>
              <a:t> Improved supply chain visibility</a:t>
            </a:r>
          </a:p>
          <a:p>
            <a:pPr algn="just" fontAlgn="t"/>
            <a:r>
              <a:rPr lang="en-IN" sz="2400" dirty="0"/>
              <a:t> Reduced production disruptions and operational costs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91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DE2D0-3918-33A9-11ED-07A03572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7C64-275B-DA04-E316-D16D409C1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 fontScale="90000"/>
          </a:bodyPr>
          <a:lstStyle/>
          <a:p>
            <a:pPr algn="just"/>
            <a:r>
              <a:rPr lang="en-GB" sz="3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PROJECT:=1</a:t>
            </a:r>
            <a:br>
              <a:rPr lang="en-GB" sz="3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IN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Intelligent Supply Chain Management Platform for Electric Vehicle Manufacturing</a:t>
            </a:r>
            <a:br>
              <a:rPr lang="en-IN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69D33-CF40-B267-DA4E-E1E741842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4950"/>
            <a:ext cx="6877050" cy="5353050"/>
          </a:xfrm>
        </p:spPr>
        <p:txBody>
          <a:bodyPr>
            <a:normAutofit fontScale="47500" lnSpcReduction="20000"/>
          </a:bodyPr>
          <a:lstStyle/>
          <a:p>
            <a:pPr fontAlgn="t">
              <a:buNone/>
            </a:pPr>
            <a:r>
              <a:rPr lang="en-IN" b="1" dirty="0"/>
              <a:t>Dataset</a:t>
            </a:r>
          </a:p>
          <a:p>
            <a:pPr fontAlgn="t">
              <a:buNone/>
            </a:pPr>
            <a:r>
              <a:rPr lang="en-IN" b="1" dirty="0"/>
              <a:t>EV Sales Data (Real Data)</a:t>
            </a:r>
          </a:p>
          <a:p>
            <a:pPr marL="342900" lvl="0" indent="-342900" fontAlgn="t"/>
            <a:r>
              <a:rPr lang="en-IN" dirty="0"/>
              <a:t>Source: Kaggle, IEA EV Database, Government EV Registration Data</a:t>
            </a:r>
          </a:p>
          <a:p>
            <a:pPr marL="342900" lvl="0" indent="-342900" fontAlgn="t"/>
            <a:r>
              <a:rPr lang="en-IN" dirty="0"/>
              <a:t>Used for: Demand Forecasting</a:t>
            </a:r>
          </a:p>
          <a:p>
            <a:pPr fontAlgn="t">
              <a:buNone/>
            </a:pPr>
            <a:r>
              <a:rPr lang="en-IN" b="1" dirty="0"/>
              <a:t>Supplier Performance Data (Synthetic Data)</a:t>
            </a:r>
          </a:p>
          <a:p>
            <a:pPr marL="342900" lvl="0" indent="-342900" fontAlgn="t"/>
            <a:r>
              <a:rPr lang="en-IN" dirty="0"/>
              <a:t>Generated using industry KPIs such as delivery rate, defect rate, and delays.</a:t>
            </a:r>
          </a:p>
          <a:p>
            <a:pPr marL="342900" lvl="0" indent="-342900" fontAlgn="t"/>
            <a:r>
              <a:rPr lang="en-IN" dirty="0"/>
              <a:t>Used for: Supplier Risk Analysis</a:t>
            </a:r>
          </a:p>
          <a:p>
            <a:pPr fontAlgn="t">
              <a:buNone/>
            </a:pPr>
            <a:r>
              <a:rPr lang="en-IN" b="1" dirty="0"/>
              <a:t>Inventory Data (Synthetic Data)</a:t>
            </a:r>
          </a:p>
          <a:p>
            <a:pPr marL="342900" lvl="0" indent="-342900" fontAlgn="t"/>
            <a:r>
              <a:rPr lang="en-IN" dirty="0"/>
              <a:t>Generated based on forecasted demand and warehouse scenarios.</a:t>
            </a:r>
          </a:p>
          <a:p>
            <a:pPr marL="342900" lvl="0" indent="-342900" fontAlgn="t"/>
            <a:r>
              <a:rPr lang="en-IN" dirty="0"/>
              <a:t>Used for: Inventory Optimization</a:t>
            </a:r>
          </a:p>
          <a:p>
            <a:pPr fontAlgn="t">
              <a:buNone/>
            </a:pPr>
            <a:r>
              <a:rPr lang="en-IN" b="1" dirty="0"/>
              <a:t>Procurement Data (Synthetic Data)</a:t>
            </a:r>
          </a:p>
          <a:p>
            <a:pPr marL="342900" lvl="0" indent="-342900" fontAlgn="t"/>
            <a:r>
              <a:rPr lang="en-IN" dirty="0"/>
              <a:t>Generated purchase orders and supplier transactions.</a:t>
            </a:r>
          </a:p>
          <a:p>
            <a:pPr marL="342900" lvl="0" indent="-342900" fontAlgn="t"/>
            <a:r>
              <a:rPr lang="en-IN" dirty="0"/>
              <a:t>Used for: Procurement Recommendations</a:t>
            </a:r>
          </a:p>
          <a:p>
            <a:pPr fontAlgn="t">
              <a:buNone/>
            </a:pPr>
            <a:r>
              <a:rPr lang="en-IN" b="1" dirty="0"/>
              <a:t>Contracts &amp; Policies (Documents)</a:t>
            </a:r>
          </a:p>
          <a:p>
            <a:pPr marL="342900" lvl="0" indent="-342900" fontAlgn="t"/>
            <a:r>
              <a:rPr lang="en-IN" dirty="0"/>
              <a:t>Public procurement documents and generated supplier contracts.</a:t>
            </a:r>
          </a:p>
          <a:p>
            <a:pPr marL="342900" lvl="0" indent="-342900" fontAlgn="t"/>
            <a:r>
              <a:rPr lang="en-IN" dirty="0"/>
              <a:t>Used for: Graph-RAG Question Answering</a:t>
            </a:r>
          </a:p>
          <a:p>
            <a:pPr fontAlgn="t">
              <a:buNone/>
            </a:pPr>
            <a:r>
              <a:rPr lang="en-IN" b="1" dirty="0"/>
              <a:t>Knowledge Graph Data</a:t>
            </a:r>
          </a:p>
          <a:p>
            <a:pPr marL="342900" lvl="0" indent="-342900" fontAlgn="t"/>
            <a:r>
              <a:rPr lang="en-IN" dirty="0"/>
              <a:t>Generated supplier-material-battery-EV relationships.</a:t>
            </a:r>
          </a:p>
          <a:p>
            <a:pPr marL="342900" lvl="0" indent="-342900" fontAlgn="t"/>
            <a:r>
              <a:rPr lang="en-IN" dirty="0"/>
              <a:t>Used for: Dependency Analysis</a:t>
            </a:r>
          </a:p>
          <a:p>
            <a:pPr algn="just"/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C8451E-D2A9-E2B5-50B8-918053E32031}"/>
              </a:ext>
            </a:extLst>
          </p:cNvPr>
          <p:cNvSpPr txBox="1">
            <a:spLocks/>
          </p:cNvSpPr>
          <p:nvPr/>
        </p:nvSpPr>
        <p:spPr>
          <a:xfrm>
            <a:off x="6591300" y="2169661"/>
            <a:ext cx="5439223" cy="347639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None/>
            </a:pPr>
            <a:r>
              <a:rPr lang="en-IN" b="1" dirty="0"/>
              <a:t>Technical Stack</a:t>
            </a:r>
          </a:p>
          <a:p>
            <a:pPr marL="342900" lvl="0" indent="-342900" fontAlgn="t"/>
            <a:r>
              <a:rPr lang="en-IN" b="1" dirty="0"/>
              <a:t>Frontend:</a:t>
            </a:r>
            <a:r>
              <a:rPr lang="en-IN" dirty="0"/>
              <a:t> React.js, Material UI</a:t>
            </a:r>
          </a:p>
          <a:p>
            <a:pPr marL="342900" lvl="0" indent="-342900" fontAlgn="t"/>
            <a:r>
              <a:rPr lang="en-IN" b="1" dirty="0"/>
              <a:t>Backend:</a:t>
            </a:r>
            <a:r>
              <a:rPr lang="en-IN" dirty="0"/>
              <a:t> </a:t>
            </a:r>
            <a:r>
              <a:rPr lang="en-IN" dirty="0" err="1"/>
              <a:t>FastAPI</a:t>
            </a:r>
            <a:endParaRPr lang="en-IN" dirty="0"/>
          </a:p>
          <a:p>
            <a:pPr marL="342900" lvl="0" indent="-342900" fontAlgn="t"/>
            <a:r>
              <a:rPr lang="en-IN" b="1" dirty="0"/>
              <a:t>Database:</a:t>
            </a:r>
            <a:r>
              <a:rPr lang="en-IN" dirty="0"/>
              <a:t> PostgreSQL</a:t>
            </a:r>
          </a:p>
          <a:p>
            <a:pPr marL="342900" lvl="0" indent="-342900" fontAlgn="t"/>
            <a:r>
              <a:rPr lang="en-IN" b="1" dirty="0"/>
              <a:t>Knowledge Graph:</a:t>
            </a:r>
            <a:r>
              <a:rPr lang="en-IN" dirty="0"/>
              <a:t> Neo4j</a:t>
            </a:r>
          </a:p>
          <a:p>
            <a:pPr marL="342900" lvl="0" indent="-342900" fontAlgn="t"/>
            <a:r>
              <a:rPr lang="en-IN" b="1" dirty="0"/>
              <a:t>Machine Learning:</a:t>
            </a:r>
            <a:r>
              <a:rPr lang="en-IN" dirty="0"/>
              <a:t> </a:t>
            </a:r>
            <a:r>
              <a:rPr lang="en-IN" dirty="0" err="1"/>
              <a:t>XGBoost</a:t>
            </a:r>
            <a:r>
              <a:rPr lang="en-IN" dirty="0"/>
              <a:t>, Scikit-learn</a:t>
            </a:r>
          </a:p>
          <a:p>
            <a:pPr marL="342900" lvl="0" indent="-342900" fontAlgn="t"/>
            <a:r>
              <a:rPr lang="en-IN" b="1" dirty="0"/>
              <a:t>Agentic AI:</a:t>
            </a:r>
            <a:r>
              <a:rPr lang="en-IN" dirty="0"/>
              <a:t> </a:t>
            </a:r>
            <a:r>
              <a:rPr lang="en-IN" dirty="0" err="1"/>
              <a:t>CrewAI</a:t>
            </a:r>
            <a:endParaRPr lang="en-IN" dirty="0"/>
          </a:p>
          <a:p>
            <a:pPr marL="342900" lvl="0" indent="-342900" fontAlgn="t"/>
            <a:r>
              <a:rPr lang="en-IN" b="1" dirty="0"/>
              <a:t>Generative AI:</a:t>
            </a:r>
            <a:r>
              <a:rPr lang="en-IN" dirty="0"/>
              <a:t> Azure OpenAI GPT</a:t>
            </a:r>
          </a:p>
          <a:p>
            <a:pPr marL="342900" lvl="0" indent="-342900" fontAlgn="t"/>
            <a:r>
              <a:rPr lang="en-IN" b="1" dirty="0"/>
              <a:t>Graph-RAG:</a:t>
            </a:r>
            <a:r>
              <a:rPr lang="en-IN" dirty="0"/>
              <a:t> </a:t>
            </a:r>
            <a:r>
              <a:rPr lang="en-IN" dirty="0" err="1"/>
              <a:t>LangChain</a:t>
            </a:r>
            <a:r>
              <a:rPr lang="en-IN" dirty="0"/>
              <a:t>, Neo4j </a:t>
            </a:r>
            <a:r>
              <a:rPr lang="en-IN" dirty="0" err="1"/>
              <a:t>GraphRAG</a:t>
            </a:r>
            <a:r>
              <a:rPr lang="en-IN" dirty="0"/>
              <a:t>, </a:t>
            </a:r>
            <a:r>
              <a:rPr lang="en-IN" dirty="0" err="1"/>
              <a:t>ChromaDB</a:t>
            </a:r>
            <a:endParaRPr lang="en-IN" dirty="0"/>
          </a:p>
          <a:p>
            <a:pPr marL="342900" lvl="0" indent="-342900" fontAlgn="t"/>
            <a:r>
              <a:rPr lang="en-IN" b="1" dirty="0"/>
              <a:t>Visualization:</a:t>
            </a:r>
            <a:r>
              <a:rPr lang="en-IN" dirty="0"/>
              <a:t> Power BI</a:t>
            </a:r>
          </a:p>
          <a:p>
            <a:pPr marL="342900" lvl="0" indent="-342900" fontAlgn="t"/>
            <a:r>
              <a:rPr lang="en-IN" b="1" dirty="0"/>
              <a:t>Cloud:</a:t>
            </a:r>
            <a:r>
              <a:rPr lang="en-IN" dirty="0"/>
              <a:t> Microsoft Azure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3844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54233-A733-3732-0B5F-41C3279D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808B-F314-3D12-2715-BB1F58E6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 fontScale="90000"/>
          </a:bodyPr>
          <a:lstStyle/>
          <a:p>
            <a:pPr algn="just"/>
            <a:r>
              <a:rPr lang="en-GB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PROJECT:=2</a:t>
            </a:r>
            <a:br>
              <a:rPr lang="en-GB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IN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Autonomous Multi-Agent Cybersecurity </a:t>
            </a:r>
            <a:r>
              <a:rPr lang="en-IN" sz="27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Defense</a:t>
            </a:r>
            <a:r>
              <a:rPr lang="en-IN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&amp; Incident Intelligence Platform</a:t>
            </a:r>
            <a:b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E2702-3551-1141-5E05-83A712882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4950"/>
            <a:ext cx="6877050" cy="5353050"/>
          </a:xfrm>
        </p:spPr>
        <p:txBody>
          <a:bodyPr>
            <a:normAutofit fontScale="62500" lnSpcReduction="20000"/>
          </a:bodyPr>
          <a:lstStyle/>
          <a:p>
            <a:pPr fontAlgn="t">
              <a:buNone/>
            </a:pPr>
            <a:r>
              <a:rPr lang="en-IN" b="1" dirty="0"/>
              <a:t>Problem Statement</a:t>
            </a:r>
          </a:p>
          <a:p>
            <a:pPr marL="342900" lvl="0" indent="-342900" fontAlgn="t"/>
            <a:r>
              <a:rPr lang="en-IN" dirty="0"/>
              <a:t>Security systems generate thousands of alerts daily.</a:t>
            </a:r>
          </a:p>
          <a:p>
            <a:pPr marL="342900" lvl="0" indent="-342900" fontAlgn="t"/>
            <a:r>
              <a:rPr lang="en-IN" dirty="0"/>
              <a:t>Manual investigation is slow and resource-intensive.</a:t>
            </a:r>
          </a:p>
          <a:p>
            <a:pPr marL="342900" lvl="0" indent="-342900" fontAlgn="t"/>
            <a:r>
              <a:rPr lang="en-IN" dirty="0"/>
              <a:t>Alert fatigue causes critical threats to be overlooked.</a:t>
            </a:r>
          </a:p>
          <a:p>
            <a:pPr marL="342900" lvl="0" indent="-342900" fontAlgn="t"/>
            <a:r>
              <a:rPr lang="en-IN" dirty="0"/>
              <a:t>Traditional tools detect threats but lack autonomous response capabilities.</a:t>
            </a:r>
          </a:p>
          <a:p>
            <a:pPr marL="342900" lvl="0" indent="-342900" fontAlgn="t"/>
            <a:r>
              <a:rPr lang="en-IN" dirty="0"/>
              <a:t>Need for an AI-driven platform that can detect, investigate, prioritize, and respond to cyber threats automatically.</a:t>
            </a:r>
          </a:p>
          <a:p>
            <a:pPr marL="342900" lvl="0" indent="-342900" fontAlgn="t"/>
            <a:endParaRPr lang="en-IN" dirty="0"/>
          </a:p>
          <a:p>
            <a:pPr fontAlgn="t">
              <a:buNone/>
            </a:pPr>
            <a:r>
              <a:rPr lang="en-IN" b="1" dirty="0"/>
              <a:t>Objectives</a:t>
            </a:r>
          </a:p>
          <a:p>
            <a:pPr marL="342900" lvl="0" indent="-342900" fontAlgn="t"/>
            <a:r>
              <a:rPr lang="en-IN" dirty="0"/>
              <a:t>Real-time cyber threat detection.</a:t>
            </a:r>
          </a:p>
          <a:p>
            <a:pPr marL="342900" lvl="0" indent="-342900" fontAlgn="t"/>
            <a:r>
              <a:rPr lang="en-IN" dirty="0"/>
              <a:t>Automated incident investigation.</a:t>
            </a:r>
          </a:p>
          <a:p>
            <a:pPr marL="342900" lvl="0" indent="-342900" fontAlgn="t"/>
            <a:r>
              <a:rPr lang="en-IN" dirty="0"/>
              <a:t>Threat intelligence-based risk assessment.</a:t>
            </a:r>
          </a:p>
          <a:p>
            <a:pPr marL="342900" lvl="0" indent="-342900" fontAlgn="t"/>
            <a:r>
              <a:rPr lang="en-IN" dirty="0"/>
              <a:t>AI-powered alert prioritization.</a:t>
            </a:r>
          </a:p>
          <a:p>
            <a:pPr marL="342900" lvl="0" indent="-342900" fontAlgn="t"/>
            <a:r>
              <a:rPr lang="en-IN" dirty="0"/>
              <a:t>Automated response and remediation.</a:t>
            </a:r>
          </a:p>
          <a:p>
            <a:pPr marL="342900" lvl="0" indent="-342900" fontAlgn="t"/>
            <a:r>
              <a:rPr lang="en-IN" dirty="0"/>
              <a:t>AI-generated incident reporting.</a:t>
            </a:r>
          </a:p>
          <a:p>
            <a:pPr marL="342900" lvl="0" indent="-342900" fontAlgn="t"/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4D7EE3-FD3E-81F7-73DD-67E0B4383C08}"/>
              </a:ext>
            </a:extLst>
          </p:cNvPr>
          <p:cNvSpPr txBox="1">
            <a:spLocks/>
          </p:cNvSpPr>
          <p:nvPr/>
        </p:nvSpPr>
        <p:spPr>
          <a:xfrm>
            <a:off x="6591300" y="2169661"/>
            <a:ext cx="5439223" cy="34763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None/>
            </a:pPr>
            <a:r>
              <a:rPr lang="en-IN" b="1" dirty="0"/>
              <a:t>Expected Outcomes</a:t>
            </a:r>
          </a:p>
          <a:p>
            <a:pPr marL="342900" lvl="0" indent="-342900" fontAlgn="t"/>
            <a:r>
              <a:rPr lang="en-IN" dirty="0"/>
              <a:t>High-accuracy cyber threat detection.</a:t>
            </a:r>
          </a:p>
          <a:p>
            <a:pPr marL="342900" lvl="0" indent="-342900" fontAlgn="t"/>
            <a:r>
              <a:rPr lang="en-IN" dirty="0"/>
              <a:t>Automated incident investigation and reporting.</a:t>
            </a:r>
          </a:p>
          <a:p>
            <a:pPr marL="342900" lvl="0" indent="-342900" fontAlgn="t"/>
            <a:r>
              <a:rPr lang="en-IN" dirty="0"/>
              <a:t>Intelligent risk-based alert prioritization.</a:t>
            </a:r>
          </a:p>
          <a:p>
            <a:pPr marL="342900" lvl="0" indent="-342900" fontAlgn="t"/>
            <a:r>
              <a:rPr lang="en-IN" dirty="0"/>
              <a:t>Reduced Mean Time to Detect (MTTD).</a:t>
            </a:r>
          </a:p>
          <a:p>
            <a:pPr marL="342900" lvl="0" indent="-342900" fontAlgn="t"/>
            <a:r>
              <a:rPr lang="en-IN" dirty="0"/>
              <a:t>Reduced Mean Time to Respond (MTTR).</a:t>
            </a:r>
          </a:p>
          <a:p>
            <a:pPr marL="342900" lvl="0" indent="-342900" fontAlgn="t"/>
            <a:r>
              <a:rPr lang="en-IN" dirty="0"/>
              <a:t>Autonomous multi-agent cybersecurity defence system.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281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D055-EB00-CFAC-BFC4-2F9F00D5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6ED5F-46ED-BD83-B01B-8B0EAB7D9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77" y="166914"/>
            <a:ext cx="5816600" cy="5646058"/>
          </a:xfrm>
        </p:spPr>
        <p:txBody>
          <a:bodyPr>
            <a:normAutofit fontScale="25000" lnSpcReduction="20000"/>
          </a:bodyPr>
          <a:lstStyle/>
          <a:p>
            <a:pPr fontAlgn="t">
              <a:buNone/>
            </a:pPr>
            <a:r>
              <a:rPr lang="en-IN" sz="4800" b="1" dirty="0"/>
              <a:t>DATASET:=</a:t>
            </a:r>
          </a:p>
          <a:p>
            <a:pPr fontAlgn="t">
              <a:buNone/>
            </a:pPr>
            <a:r>
              <a:rPr lang="en-IN" sz="4800" b="1" dirty="0"/>
              <a:t>Network Traffic Data (Real Data)</a:t>
            </a:r>
            <a:endParaRPr lang="en-IN" sz="4800" dirty="0"/>
          </a:p>
          <a:p>
            <a:pPr marL="342900" lvl="0" indent="-342900" fontAlgn="t"/>
            <a:r>
              <a:rPr lang="en-IN" sz="4800" dirty="0"/>
              <a:t>Source: CICIDS2017, UNSW-NB15</a:t>
            </a:r>
          </a:p>
          <a:p>
            <a:pPr marL="342900" lvl="0" indent="-342900" fontAlgn="t"/>
            <a:r>
              <a:rPr lang="en-IN" sz="4800" dirty="0"/>
              <a:t>Used for: Threat Detection &amp; Attack Classification</a:t>
            </a:r>
          </a:p>
          <a:p>
            <a:pPr fontAlgn="t">
              <a:buNone/>
            </a:pPr>
            <a:r>
              <a:rPr lang="en-IN" sz="4800" b="1" dirty="0"/>
              <a:t>🔹 Security Logs (Real Data)</a:t>
            </a:r>
            <a:endParaRPr lang="en-IN" sz="4800" dirty="0"/>
          </a:p>
          <a:p>
            <a:pPr marL="342900" lvl="0" indent="-342900" fontAlgn="t"/>
            <a:r>
              <a:rPr lang="en-IN" sz="4800" dirty="0"/>
              <a:t>Source: Windows Event Logs, </a:t>
            </a:r>
            <a:r>
              <a:rPr lang="en-IN" sz="4800" dirty="0" err="1"/>
              <a:t>Syslogs</a:t>
            </a:r>
            <a:r>
              <a:rPr lang="en-IN" sz="4800" dirty="0"/>
              <a:t>, </a:t>
            </a:r>
            <a:r>
              <a:rPr lang="en-IN" sz="4800" dirty="0" err="1"/>
              <a:t>Wazuh</a:t>
            </a:r>
            <a:r>
              <a:rPr lang="en-IN" sz="4800" dirty="0"/>
              <a:t> Logs</a:t>
            </a:r>
          </a:p>
          <a:p>
            <a:pPr marL="342900" lvl="0" indent="-342900" fontAlgn="t"/>
            <a:r>
              <a:rPr lang="en-IN" sz="4800" dirty="0"/>
              <a:t>Used for: Incident Investigation</a:t>
            </a:r>
          </a:p>
          <a:p>
            <a:pPr fontAlgn="t">
              <a:buNone/>
            </a:pPr>
            <a:r>
              <a:rPr lang="en-IN" sz="4800" b="1" dirty="0"/>
              <a:t>🔹 Threat Intelligence Data (Real Data)</a:t>
            </a:r>
            <a:endParaRPr lang="en-IN" sz="4800" dirty="0"/>
          </a:p>
          <a:p>
            <a:pPr marL="342900" lvl="0" indent="-342900" fontAlgn="t"/>
            <a:r>
              <a:rPr lang="en-IN" sz="4800" dirty="0"/>
              <a:t>Source: MITRE ATT&amp;CK, </a:t>
            </a:r>
            <a:r>
              <a:rPr lang="en-IN" sz="4800" dirty="0" err="1"/>
              <a:t>VirusTotal</a:t>
            </a:r>
            <a:r>
              <a:rPr lang="en-IN" sz="4800" dirty="0"/>
              <a:t>, </a:t>
            </a:r>
            <a:r>
              <a:rPr lang="en-IN" sz="4800" dirty="0" err="1"/>
              <a:t>AbuseIPDB</a:t>
            </a:r>
            <a:endParaRPr lang="en-IN" sz="4800" dirty="0"/>
          </a:p>
          <a:p>
            <a:pPr marL="342900" lvl="0" indent="-342900" fontAlgn="t"/>
            <a:r>
              <a:rPr lang="en-IN" sz="4800" dirty="0"/>
              <a:t>Used for: Threat Enrichment &amp; Risk Assessment</a:t>
            </a:r>
          </a:p>
          <a:p>
            <a:pPr fontAlgn="t">
              <a:buNone/>
            </a:pPr>
            <a:r>
              <a:rPr lang="en-IN" sz="4800" b="1" dirty="0"/>
              <a:t>🔹 User Activity Data (Synthetic Data)</a:t>
            </a:r>
            <a:endParaRPr lang="en-IN" sz="4800" dirty="0"/>
          </a:p>
          <a:p>
            <a:pPr marL="342900" lvl="0" indent="-342900" fontAlgn="t"/>
            <a:r>
              <a:rPr lang="en-IN" sz="4800" dirty="0"/>
              <a:t>Generated login and access </a:t>
            </a:r>
            <a:r>
              <a:rPr lang="en-IN" sz="4800" dirty="0" err="1"/>
              <a:t>behavior</a:t>
            </a:r>
            <a:r>
              <a:rPr lang="en-IN" sz="4800" dirty="0"/>
              <a:t> records</a:t>
            </a:r>
          </a:p>
          <a:p>
            <a:pPr marL="342900" lvl="0" indent="-342900" fontAlgn="t"/>
            <a:r>
              <a:rPr lang="en-IN" sz="4800" dirty="0"/>
              <a:t>Used for: User </a:t>
            </a:r>
            <a:r>
              <a:rPr lang="en-IN" sz="4800" dirty="0" err="1"/>
              <a:t>Behavior</a:t>
            </a:r>
            <a:r>
              <a:rPr lang="en-IN" sz="4800" dirty="0"/>
              <a:t> Analysis</a:t>
            </a:r>
          </a:p>
          <a:p>
            <a:pPr fontAlgn="t">
              <a:buNone/>
            </a:pPr>
            <a:r>
              <a:rPr lang="en-IN" sz="4800" b="1" dirty="0"/>
              <a:t>🔹 Incident Response Data (Synthetic Data)</a:t>
            </a:r>
            <a:endParaRPr lang="en-IN" sz="4800" dirty="0"/>
          </a:p>
          <a:p>
            <a:pPr marL="342900" lvl="0" indent="-342900" fontAlgn="t"/>
            <a:r>
              <a:rPr lang="en-IN" sz="4800" dirty="0"/>
              <a:t>Generated attack and response scenarios</a:t>
            </a:r>
          </a:p>
          <a:p>
            <a:pPr marL="342900" lvl="0" indent="-342900" fontAlgn="t"/>
            <a:r>
              <a:rPr lang="en-IN" sz="4800" dirty="0"/>
              <a:t>Used for: Response Automation</a:t>
            </a:r>
          </a:p>
          <a:p>
            <a:pPr fontAlgn="t">
              <a:buNone/>
            </a:pPr>
            <a:r>
              <a:rPr lang="en-IN" sz="4800" b="1" dirty="0"/>
              <a:t>🔹 Security Reports &amp; Policies (Documents)</a:t>
            </a:r>
            <a:endParaRPr lang="en-IN" sz="4800" dirty="0"/>
          </a:p>
          <a:p>
            <a:pPr marL="342900" lvl="0" indent="-342900" fontAlgn="t"/>
            <a:r>
              <a:rPr lang="en-IN" sz="4800" dirty="0"/>
              <a:t>Source: NIST Guidelines, SOC Playbooks</a:t>
            </a:r>
          </a:p>
          <a:p>
            <a:pPr marL="342900" lvl="0" indent="-342900" fontAlgn="t"/>
            <a:r>
              <a:rPr lang="en-IN" sz="4800" dirty="0"/>
              <a:t>Used for: AI Report Generation &amp; Recommendations</a:t>
            </a:r>
          </a:p>
          <a:p>
            <a:pPr fontAlgn="t">
              <a:buNone/>
            </a:pPr>
            <a:r>
              <a:rPr lang="en-IN" sz="4800" b="1" dirty="0"/>
              <a:t>🔹 Knowledge Graph Data</a:t>
            </a:r>
            <a:endParaRPr lang="en-IN" sz="4800" dirty="0"/>
          </a:p>
          <a:p>
            <a:pPr marL="342900" lvl="0" indent="-342900" fontAlgn="t"/>
            <a:r>
              <a:rPr lang="en-IN" sz="4800" dirty="0"/>
              <a:t>Generated User-Device-IP-Attack relationships</a:t>
            </a:r>
          </a:p>
          <a:p>
            <a:pPr marL="342900" lvl="0" indent="-342900" fontAlgn="t"/>
            <a:r>
              <a:rPr lang="en-IN" sz="4800" dirty="0"/>
              <a:t>Used for: Threat Correlation &amp; Attack Path Analysis</a:t>
            </a:r>
          </a:p>
          <a:p>
            <a:pPr fontAlgn="t">
              <a:buNone/>
            </a:pPr>
            <a:r>
              <a:rPr lang="en-IN" sz="4800" b="1" dirty="0"/>
              <a:t>🔹 Vector Knowledge Base</a:t>
            </a:r>
            <a:endParaRPr lang="en-IN" sz="4800" dirty="0"/>
          </a:p>
          <a:p>
            <a:pPr marL="342900" lvl="0" indent="-342900" fontAlgn="t"/>
            <a:r>
              <a:rPr lang="en-IN" sz="4800" dirty="0"/>
              <a:t>Source: Threat Intelligence Feeds &amp; Security Documents</a:t>
            </a:r>
          </a:p>
          <a:p>
            <a:pPr marL="342900" lvl="0" indent="-342900" fontAlgn="t"/>
            <a:r>
              <a:rPr lang="en-IN" sz="4800" dirty="0"/>
              <a:t>Used for: AI Search &amp; Cybersecurity Question Answering</a:t>
            </a:r>
          </a:p>
          <a:p>
            <a:pPr algn="just"/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C12605-51A0-00E9-05B0-99E030BCA20D}"/>
              </a:ext>
            </a:extLst>
          </p:cNvPr>
          <p:cNvSpPr txBox="1">
            <a:spLocks/>
          </p:cNvSpPr>
          <p:nvPr/>
        </p:nvSpPr>
        <p:spPr>
          <a:xfrm>
            <a:off x="4927600" y="166914"/>
            <a:ext cx="6594923" cy="3476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None/>
            </a:pPr>
            <a:r>
              <a:rPr lang="en-IN" sz="1200" b="1" dirty="0"/>
              <a:t>Technical Stack</a:t>
            </a:r>
          </a:p>
          <a:p>
            <a:pPr fontAlgn="t">
              <a:buNone/>
            </a:pPr>
            <a:r>
              <a:rPr lang="en-IN" sz="1200" b="1" dirty="0"/>
              <a:t>Frontend</a:t>
            </a:r>
          </a:p>
          <a:p>
            <a:pPr marL="342900" lvl="0" indent="-342900" fontAlgn="t"/>
            <a:r>
              <a:rPr lang="en-IN" sz="1200" dirty="0"/>
              <a:t>React.js</a:t>
            </a:r>
          </a:p>
          <a:p>
            <a:pPr marL="342900" lvl="0" indent="-342900" fontAlgn="t"/>
            <a:r>
              <a:rPr lang="en-IN" sz="1200" dirty="0"/>
              <a:t>Tailwind CSS</a:t>
            </a:r>
          </a:p>
          <a:p>
            <a:pPr marL="342900" lvl="0" indent="-342900" fontAlgn="t"/>
            <a:r>
              <a:rPr lang="en-IN" sz="1200" dirty="0"/>
              <a:t>Recharts</a:t>
            </a:r>
          </a:p>
          <a:p>
            <a:pPr fontAlgn="t">
              <a:buNone/>
            </a:pPr>
            <a:r>
              <a:rPr lang="en-IN" sz="1200" b="1" dirty="0"/>
              <a:t>Backend</a:t>
            </a:r>
          </a:p>
          <a:p>
            <a:pPr marL="342900" lvl="0" indent="-342900" fontAlgn="t"/>
            <a:r>
              <a:rPr lang="en-IN" sz="1200" dirty="0" err="1"/>
              <a:t>FastAPI</a:t>
            </a:r>
            <a:endParaRPr lang="en-IN" sz="1200" dirty="0"/>
          </a:p>
          <a:p>
            <a:pPr marL="342900" lvl="0" indent="-342900" fontAlgn="t"/>
            <a:r>
              <a:rPr lang="en-IN" sz="1200" dirty="0"/>
              <a:t>Python</a:t>
            </a:r>
          </a:p>
          <a:p>
            <a:pPr fontAlgn="t">
              <a:buNone/>
            </a:pPr>
            <a:r>
              <a:rPr lang="en-IN" sz="1200" b="1" dirty="0"/>
              <a:t>Database</a:t>
            </a:r>
          </a:p>
          <a:p>
            <a:pPr marL="342900" lvl="0" indent="-342900" fontAlgn="t"/>
            <a:r>
              <a:rPr lang="en-IN" sz="1200" dirty="0"/>
              <a:t>PostgreSQL</a:t>
            </a:r>
          </a:p>
          <a:p>
            <a:pPr marL="342900" lvl="0" indent="-342900" fontAlgn="t"/>
            <a:r>
              <a:rPr lang="en-IN" sz="1200" dirty="0"/>
              <a:t>MongoDB</a:t>
            </a:r>
          </a:p>
          <a:p>
            <a:pPr fontAlgn="t">
              <a:buNone/>
            </a:pPr>
            <a:r>
              <a:rPr lang="en-IN" sz="1200" b="1" dirty="0"/>
              <a:t>Vector Database</a:t>
            </a:r>
          </a:p>
          <a:p>
            <a:pPr marL="342900" lvl="0" indent="-342900" fontAlgn="t"/>
            <a:r>
              <a:rPr lang="en-IN" sz="1200" dirty="0" err="1"/>
              <a:t>ChromaDB</a:t>
            </a:r>
            <a:endParaRPr lang="en-IN" sz="1200" dirty="0"/>
          </a:p>
          <a:p>
            <a:pPr fontAlgn="t">
              <a:buNone/>
            </a:pPr>
            <a:r>
              <a:rPr lang="en-IN" sz="1200" b="1" dirty="0"/>
              <a:t>Machine Learning</a:t>
            </a:r>
          </a:p>
          <a:p>
            <a:pPr marL="342900" lvl="0" indent="-342900" fontAlgn="t"/>
            <a:r>
              <a:rPr lang="en-IN" sz="1200" dirty="0" err="1"/>
              <a:t>XGBoost</a:t>
            </a:r>
            <a:endParaRPr lang="en-IN" sz="1200" dirty="0"/>
          </a:p>
          <a:p>
            <a:pPr marL="342900" lvl="0" indent="-342900" fontAlgn="t"/>
            <a:r>
              <a:rPr lang="en-IN" sz="1200" dirty="0"/>
              <a:t>Random Forest</a:t>
            </a:r>
          </a:p>
          <a:p>
            <a:pPr marL="342900" lvl="0" indent="-342900" fontAlgn="t"/>
            <a:r>
              <a:rPr lang="en-IN" sz="1200" dirty="0"/>
              <a:t>Isolation Forest</a:t>
            </a:r>
          </a:p>
          <a:p>
            <a:pPr marL="342900" lvl="0" indent="-342900" fontAlgn="t"/>
            <a:r>
              <a:rPr lang="en-IN" sz="1200" dirty="0"/>
              <a:t>Scikit-learn</a:t>
            </a:r>
          </a:p>
          <a:p>
            <a:pPr fontAlgn="t">
              <a:buNone/>
            </a:pPr>
            <a:r>
              <a:rPr lang="en-IN" sz="1200" b="1" dirty="0"/>
              <a:t>Agentic AI</a:t>
            </a:r>
          </a:p>
          <a:p>
            <a:pPr marL="342900" lvl="0" indent="-342900" fontAlgn="t"/>
            <a:r>
              <a:rPr lang="en-IN" sz="1200" dirty="0" err="1"/>
              <a:t>CrewAI</a:t>
            </a:r>
            <a:endParaRPr lang="en-IN" sz="1200" dirty="0"/>
          </a:p>
          <a:p>
            <a:pPr marL="342900" lvl="0" indent="-342900" fontAlgn="t"/>
            <a:r>
              <a:rPr lang="en-IN" sz="1200" dirty="0" err="1"/>
              <a:t>LangGraph</a:t>
            </a:r>
            <a:endParaRPr lang="en-IN" sz="1200" dirty="0"/>
          </a:p>
          <a:p>
            <a:pPr algn="just"/>
            <a:endParaRPr lang="en-IN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6F1994-E165-D653-B4F9-7960ED9AFD22}"/>
              </a:ext>
            </a:extLst>
          </p:cNvPr>
          <p:cNvSpPr txBox="1">
            <a:spLocks/>
          </p:cNvSpPr>
          <p:nvPr/>
        </p:nvSpPr>
        <p:spPr>
          <a:xfrm>
            <a:off x="7257143" y="166914"/>
            <a:ext cx="4417780" cy="36287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None/>
            </a:pPr>
            <a:endParaRPr lang="en-IN" sz="1200" b="1" dirty="0"/>
          </a:p>
          <a:p>
            <a:pPr fontAlgn="t">
              <a:buNone/>
            </a:pPr>
            <a:r>
              <a:rPr lang="en-IN" sz="1200" b="1" dirty="0"/>
              <a:t>Generative AI</a:t>
            </a:r>
          </a:p>
          <a:p>
            <a:pPr marL="342900" lvl="0" indent="-342900" fontAlgn="t"/>
            <a:r>
              <a:rPr lang="en-IN" sz="1200" dirty="0"/>
              <a:t>Azure OpenAI GPT</a:t>
            </a:r>
          </a:p>
          <a:p>
            <a:pPr marL="342900" lvl="0" indent="-342900" fontAlgn="t"/>
            <a:r>
              <a:rPr lang="en-IN" sz="1200" dirty="0"/>
              <a:t>Llama 3</a:t>
            </a:r>
          </a:p>
          <a:p>
            <a:pPr fontAlgn="t">
              <a:buNone/>
            </a:pPr>
            <a:r>
              <a:rPr lang="en-IN" sz="1200" b="1" dirty="0"/>
              <a:t>Security Analytics</a:t>
            </a:r>
          </a:p>
          <a:p>
            <a:pPr marL="342900" lvl="0" indent="-342900" fontAlgn="t"/>
            <a:r>
              <a:rPr lang="en-IN" sz="1200" dirty="0" err="1"/>
              <a:t>Wazuh</a:t>
            </a:r>
            <a:endParaRPr lang="en-IN" sz="1200" dirty="0"/>
          </a:p>
          <a:p>
            <a:pPr marL="342900" lvl="0" indent="-342900" fontAlgn="t"/>
            <a:r>
              <a:rPr lang="en-IN" sz="1200" dirty="0"/>
              <a:t>Suricata</a:t>
            </a:r>
          </a:p>
          <a:p>
            <a:pPr marL="342900" lvl="0" indent="-342900" fontAlgn="t"/>
            <a:r>
              <a:rPr lang="en-IN" sz="1200" dirty="0"/>
              <a:t>Zeek</a:t>
            </a:r>
          </a:p>
          <a:p>
            <a:pPr marL="342900" lvl="0" indent="-342900" fontAlgn="t"/>
            <a:r>
              <a:rPr lang="en-IN" sz="1200" dirty="0"/>
              <a:t>ELK Stack</a:t>
            </a:r>
          </a:p>
          <a:p>
            <a:pPr fontAlgn="t">
              <a:buNone/>
            </a:pPr>
            <a:r>
              <a:rPr lang="en-IN" sz="1200" b="1" dirty="0"/>
              <a:t>Threat Intelligence</a:t>
            </a:r>
          </a:p>
          <a:p>
            <a:pPr marL="342900" lvl="0" indent="-342900" fontAlgn="t"/>
            <a:r>
              <a:rPr lang="en-IN" sz="1200" dirty="0"/>
              <a:t>MITRE ATT&amp;CK</a:t>
            </a:r>
          </a:p>
          <a:p>
            <a:pPr marL="342900" lvl="0" indent="-342900" fontAlgn="t"/>
            <a:r>
              <a:rPr lang="en-IN" sz="1200" dirty="0" err="1"/>
              <a:t>VirusTotal</a:t>
            </a:r>
            <a:r>
              <a:rPr lang="en-IN" sz="1200" dirty="0"/>
              <a:t> API</a:t>
            </a:r>
          </a:p>
          <a:p>
            <a:pPr marL="342900" lvl="0" indent="-342900" fontAlgn="t"/>
            <a:r>
              <a:rPr lang="en-IN" sz="1200" dirty="0" err="1"/>
              <a:t>AbuseIPDB</a:t>
            </a:r>
            <a:endParaRPr lang="en-IN" sz="1200" dirty="0"/>
          </a:p>
          <a:p>
            <a:pPr fontAlgn="t">
              <a:buNone/>
            </a:pPr>
            <a:r>
              <a:rPr lang="en-IN" sz="1200" b="1" dirty="0"/>
              <a:t>Cloud &amp; Deployment</a:t>
            </a:r>
          </a:p>
          <a:p>
            <a:pPr marL="342900" lvl="0" indent="-342900" fontAlgn="t"/>
            <a:r>
              <a:rPr lang="en-IN" sz="1200" dirty="0"/>
              <a:t>Docker</a:t>
            </a:r>
          </a:p>
          <a:p>
            <a:pPr marL="342900" lvl="0" indent="-342900" fontAlgn="t"/>
            <a:r>
              <a:rPr lang="en-IN" sz="1200" dirty="0"/>
              <a:t>Kubernetes</a:t>
            </a:r>
          </a:p>
          <a:p>
            <a:pPr marL="342900" lvl="0" indent="-342900" fontAlgn="t"/>
            <a:r>
              <a:rPr lang="en-IN" sz="1200" dirty="0"/>
              <a:t>Microsoft Azure</a:t>
            </a:r>
          </a:p>
          <a:p>
            <a:pPr algn="just"/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34629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0B98-C247-3D52-DDA3-348CA9B6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742" y="2766218"/>
            <a:ext cx="3062515" cy="1325563"/>
          </a:xfrm>
        </p:spPr>
        <p:txBody>
          <a:bodyPr/>
          <a:lstStyle/>
          <a:p>
            <a:r>
              <a:rPr lang="en-GB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889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763</Words>
  <Application>Microsoft Office PowerPoint</Application>
  <PresentationFormat>Widescreen</PresentationFormat>
  <Paragraphs>165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ADLaM Display</vt:lpstr>
      <vt:lpstr>Aptos</vt:lpstr>
      <vt:lpstr>Aptos Display</vt:lpstr>
      <vt:lpstr>Arial</vt:lpstr>
      <vt:lpstr>Office Theme</vt:lpstr>
      <vt:lpstr>REVIEW - 0</vt:lpstr>
      <vt:lpstr>PowerPoint Presentation</vt:lpstr>
      <vt:lpstr>PROJECT:=1 Intelligent Supply Chain Management Platform for Electric Vehicle Manufacturing </vt:lpstr>
      <vt:lpstr>PROJECT:=1 Intelligent Supply Chain Management Platform for Electric Vehicle Manufacturing </vt:lpstr>
      <vt:lpstr>PROJECT:=2 Autonomous Multi-Agent Cybersecurity Defense &amp; Incident Intelligence Platform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Gohil Radha Maheshbhai</dc:creator>
  <cp:lastModifiedBy>Gohil Radha Maheshbhai</cp:lastModifiedBy>
  <cp:revision>3</cp:revision>
  <dcterms:created xsi:type="dcterms:W3CDTF">2026-08-30T07:42:25Z</dcterms:created>
  <dcterms:modified xsi:type="dcterms:W3CDTF">2026-08-31T04:33:43Z</dcterms:modified>
</cp:coreProperties>
</file>