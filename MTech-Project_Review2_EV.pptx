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501" r:id="rId6"/>
    <p:sldId id="2147470502" r:id="rId7"/>
    <p:sldId id="2147470494" r:id="rId8"/>
    <p:sldId id="2147470503" r:id="rId9"/>
    <p:sldId id="2147470497" r:id="rId10"/>
    <p:sldId id="2147470504" r:id="rId11"/>
    <p:sldId id="2147470498" r:id="rId12"/>
    <p:sldId id="2147470505" r:id="rId13"/>
    <p:sldId id="2147470500" r:id="rId14"/>
    <p:sldId id="2147470506" r:id="rId15"/>
    <p:sldId id="214747049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 </a:t>
            </a:r>
          </a:p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Intelligent Supply Chain Management Platform for </a:t>
            </a:r>
          </a:p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Electric Vehicle Manufacturing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Radha Gohil [T10002]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algn="just"/>
            <a:r>
              <a:rPr lang="en-US" sz="2000" dirty="0">
                <a:latin typeface="+mn-lt"/>
              </a:rPr>
              <a:t>Existing Challenges: </a:t>
            </a:r>
            <a:r>
              <a:rPr lang="en-US" sz="2000" b="0" dirty="0">
                <a:latin typeface="+mn-lt"/>
              </a:rPr>
              <a:t>EV manufacturing supply chains involve multiple components, suppliers, warehouses, and procurement activities, which are often managed through separate systems and processes.</a:t>
            </a:r>
          </a:p>
          <a:p>
            <a:pPr algn="just"/>
            <a:r>
              <a:rPr lang="en-US" sz="2000" dirty="0">
                <a:latin typeface="+mn-lt"/>
              </a:rPr>
              <a:t>Current Limitations: </a:t>
            </a:r>
            <a:r>
              <a:rPr lang="en-US" sz="2000" b="0" dirty="0">
                <a:latin typeface="+mn-lt"/>
              </a:rPr>
              <a:t>Component shortages, excess inventory, supplier delays, supply risks, and inefficient supplier selection can affect production continuity and increase procurement costs.</a:t>
            </a:r>
          </a:p>
          <a:p>
            <a:pPr algn="just"/>
            <a:r>
              <a:rPr lang="en-US" sz="2000" dirty="0">
                <a:latin typeface="+mn-lt"/>
              </a:rPr>
              <a:t>Proposed Solution: </a:t>
            </a:r>
            <a:r>
              <a:rPr lang="en-US" sz="2000" b="0" dirty="0">
                <a:latin typeface="+mn-lt"/>
              </a:rPr>
              <a:t>An integrated intelligent supply-chain platform that connects BOM-based material planning, inventory management, supplier evaluation, risk analysis, procurement decisions, and purchase-order tracking.</a:t>
            </a:r>
          </a:p>
          <a:p>
            <a:pPr algn="just"/>
            <a:r>
              <a:rPr lang="en-US" sz="2000" dirty="0">
                <a:latin typeface="+mn-lt"/>
              </a:rPr>
              <a:t>Intelligent Decision Support: </a:t>
            </a:r>
            <a:r>
              <a:rPr lang="en-US" sz="2000" b="0" dirty="0">
                <a:latin typeface="+mn-lt"/>
              </a:rPr>
              <a:t>The system identifies component shortages, evaluates supplier performance and risk, ranks suitable suppliers, and recommends procurement quantities for better purchasing decisions.</a:t>
            </a:r>
          </a:p>
          <a:p>
            <a:pPr algn="just"/>
            <a:r>
              <a:rPr lang="en-US" sz="2000" dirty="0">
                <a:latin typeface="+mn-lt"/>
              </a:rPr>
              <a:t>Real-Time Operational Support: </a:t>
            </a:r>
            <a:r>
              <a:rPr lang="en-US" sz="2000" b="0" dirty="0">
                <a:latin typeface="+mn-lt"/>
              </a:rPr>
              <a:t>Purchase orders can be tracked from creation to material receipt, with inventory and supplier availability updated as procurement activities progress.</a:t>
            </a:r>
          </a:p>
          <a:p>
            <a:pPr algn="just"/>
            <a:r>
              <a:rPr lang="en-US" sz="2000" dirty="0">
                <a:latin typeface="+mn-lt"/>
              </a:rPr>
              <a:t>Overall Benefit: </a:t>
            </a:r>
            <a:r>
              <a:rPr lang="en-US" sz="2000" b="0" dirty="0">
                <a:latin typeface="+mn-lt"/>
              </a:rPr>
              <a:t>The proposed system improves supply-chain visibility, reduces shortage and supplier risks, supports faster procurement decisions, and helps maintain continuous EV manufacturing operations.</a:t>
            </a:r>
            <a:endParaRPr lang="en-IN" sz="2000" b="0" dirty="0"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0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 algn="just"/>
            <a:r>
              <a:rPr lang="en-IN" sz="2000" b="0" dirty="0"/>
              <a:t>Develop an AI-driven supply-chain management platform for EV manufacturing. </a:t>
            </a:r>
          </a:p>
          <a:p>
            <a:pPr lvl="0" algn="just"/>
            <a:r>
              <a:rPr lang="en-IN" sz="2000" b="0" dirty="0"/>
              <a:t>Optimize component planning using vehicle BOM, inventory, safety stock, and shortage analysis. </a:t>
            </a:r>
          </a:p>
          <a:p>
            <a:pPr lvl="0" algn="just"/>
            <a:r>
              <a:rPr lang="en-IN" sz="2000" b="0" dirty="0"/>
              <a:t>Evaluate supplier performance using reliability, quality, capacity, availability, and lead time. </a:t>
            </a:r>
          </a:p>
          <a:p>
            <a:pPr lvl="0" algn="just"/>
            <a:r>
              <a:rPr lang="en-IN" sz="2000" b="0" dirty="0"/>
              <a:t>Predict supplier risk using XGBoost for proactive risk management. </a:t>
            </a:r>
          </a:p>
          <a:p>
            <a:pPr lvl="0" algn="just"/>
            <a:r>
              <a:rPr lang="en-IN" sz="2000" b="0" dirty="0"/>
              <a:t>Provide multi-criteria supplier ranking and intelligent procurement recommendations. </a:t>
            </a:r>
          </a:p>
          <a:p>
            <a:pPr lvl="0" algn="just"/>
            <a:r>
              <a:rPr lang="en-IN" sz="2000" b="0" dirty="0"/>
              <a:t>Automate purchase-order generation, tracking, material receipt, and inventory updates. </a:t>
            </a:r>
          </a:p>
          <a:p>
            <a:pPr lvl="0" algn="just"/>
            <a:r>
              <a:rPr lang="en-IN" sz="2000" b="0" dirty="0"/>
              <a:t>Enable connected supply-chain intelligence using Neo4j, Graph-RAG, LLMs, and AI Agents.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….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dirty="0">
                <a:latin typeface="+mn-lt"/>
              </a:rPr>
              <a:t>Module 1: Inventory Management — Intelligent Inventory Planning</a:t>
            </a:r>
          </a:p>
          <a:p>
            <a:pPr lvl="0"/>
            <a:r>
              <a:rPr lang="en-IN" sz="2000" b="0" dirty="0">
                <a:latin typeface="+mn-lt"/>
              </a:rPr>
              <a:t>Vehicle BOM</a:t>
            </a:r>
            <a:r>
              <a:rPr lang="en-US" sz="2000" b="0" dirty="0">
                <a:latin typeface="+mn-lt"/>
              </a:rPr>
              <a:t> [</a:t>
            </a:r>
            <a:r>
              <a:rPr lang="en-IN" sz="2000" b="0" dirty="0">
                <a:latin typeface="+mn-lt"/>
              </a:rPr>
              <a:t>Bill of Materials</a:t>
            </a:r>
            <a:r>
              <a:rPr lang="en-US" sz="2000" b="0" dirty="0">
                <a:latin typeface="+mn-lt"/>
              </a:rPr>
              <a:t>] </a:t>
            </a:r>
            <a:r>
              <a:rPr lang="en-IN" sz="2000" b="0" dirty="0">
                <a:latin typeface="+mn-lt"/>
              </a:rPr>
              <a:t>-based component requirements </a:t>
            </a:r>
          </a:p>
          <a:p>
            <a:pPr lvl="0"/>
            <a:r>
              <a:rPr lang="en-IN" sz="2000" b="0" dirty="0">
                <a:latin typeface="+mn-lt"/>
              </a:rPr>
              <a:t>Stock, safety stock, incoming stock &amp; shortage analysis </a:t>
            </a:r>
          </a:p>
          <a:p>
            <a:pPr lvl="0"/>
            <a:r>
              <a:rPr lang="en-IN" sz="2000" b="0" dirty="0">
                <a:latin typeface="+mn-lt"/>
              </a:rPr>
              <a:t>Multi-warehouse inventory and transaction management </a:t>
            </a:r>
          </a:p>
          <a:p>
            <a:pPr lvl="0"/>
            <a:r>
              <a:rPr lang="en-IN" sz="2000" b="0" dirty="0">
                <a:latin typeface="+mn-lt"/>
              </a:rPr>
              <a:t>Procurement quantity &amp; urgency identification </a:t>
            </a:r>
          </a:p>
          <a:p>
            <a:pPr marL="0" indent="0">
              <a:buNone/>
            </a:pPr>
            <a:endParaRPr lang="en-IN" sz="2000" b="0" dirty="0">
              <a:latin typeface="+mn-lt"/>
            </a:endParaRPr>
          </a:p>
          <a:p>
            <a:pPr marL="0" indent="0">
              <a:buNone/>
            </a:pPr>
            <a:r>
              <a:rPr lang="en-IN" sz="2000" dirty="0">
                <a:latin typeface="+mn-lt"/>
              </a:rPr>
              <a:t>Module 2: Supplier Intelligence — Supplier Performance &amp; Risk Analysis</a:t>
            </a:r>
          </a:p>
          <a:p>
            <a:pPr lvl="0"/>
            <a:r>
              <a:rPr lang="en-IN" sz="2000" b="0" dirty="0">
                <a:latin typeface="+mn-lt"/>
              </a:rPr>
              <a:t>Supplier quality, reliability &amp; historical performance analysis </a:t>
            </a:r>
          </a:p>
          <a:p>
            <a:pPr lvl="0"/>
            <a:r>
              <a:rPr lang="en-IN" sz="2000" b="0" dirty="0">
                <a:latin typeface="+mn-lt"/>
              </a:rPr>
              <a:t>XGBoost-based supplier risk prediction </a:t>
            </a:r>
          </a:p>
          <a:p>
            <a:pPr lvl="0"/>
            <a:r>
              <a:rPr lang="en-IN" sz="2000" b="0" dirty="0">
                <a:latin typeface="+mn-lt"/>
              </a:rPr>
              <a:t>Supplier capacity, availability &amp; lead-time analysis </a:t>
            </a:r>
          </a:p>
          <a:p>
            <a:pPr lvl="0"/>
            <a:r>
              <a:rPr lang="en-IN" sz="2000" b="0" dirty="0">
                <a:latin typeface="+mn-lt"/>
              </a:rPr>
              <a:t>Supplier performance monitoring </a:t>
            </a:r>
          </a:p>
          <a:p>
            <a:pPr marL="0" indent="0">
              <a:buNone/>
            </a:pPr>
            <a:endParaRPr lang="en-US" sz="2000" b="0" dirty="0">
              <a:solidFill>
                <a:srgbClr val="5583D1"/>
              </a:solidFill>
              <a:latin typeface="+mn-lt"/>
            </a:endParaRPr>
          </a:p>
          <a:p>
            <a:pPr lvl="1"/>
            <a:endParaRPr lang="en-US" sz="2000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Modules to cover…. </a:t>
            </a:r>
          </a:p>
          <a:p>
            <a:pPr lvl="0"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0607D-7C69-AE37-0557-56FE31D8D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4A11F1-DF68-0860-9E7F-E3840DD301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dirty="0"/>
              <a:t>Module 3: Intelligent Procurement — AI-Based Procurement Decision</a:t>
            </a:r>
          </a:p>
          <a:p>
            <a:pPr lvl="0"/>
            <a:r>
              <a:rPr lang="en-IN" sz="2000" b="0" dirty="0"/>
              <a:t>Multi-criteria supplier ranking </a:t>
            </a:r>
          </a:p>
          <a:p>
            <a:pPr lvl="0"/>
            <a:r>
              <a:rPr lang="en-IN" sz="2000" b="0" dirty="0"/>
              <a:t>Best supplier &amp; procurement quantity recommendation </a:t>
            </a:r>
          </a:p>
          <a:p>
            <a:pPr lvl="0"/>
            <a:r>
              <a:rPr lang="en-IN" sz="2000" b="0" dirty="0"/>
              <a:t>Cost, capacity, MOQ, availability &amp; lead-time evaluation </a:t>
            </a:r>
          </a:p>
          <a:p>
            <a:pPr lvl="0"/>
            <a:r>
              <a:rPr lang="en-IN" sz="2000" b="0" dirty="0"/>
              <a:t>Risk-aware procurement decision support </a:t>
            </a:r>
          </a:p>
          <a:p>
            <a:pPr lvl="0"/>
            <a:endParaRPr lang="en-IN" sz="2000" b="0" dirty="0"/>
          </a:p>
          <a:p>
            <a:pPr marL="0" indent="0">
              <a:buNone/>
            </a:pPr>
            <a:r>
              <a:rPr lang="en-IN" sz="2000" dirty="0"/>
              <a:t>Module 4: Purchase Order Management — Procurement Execution &amp; Tracking</a:t>
            </a:r>
          </a:p>
          <a:p>
            <a:pPr lvl="0"/>
            <a:r>
              <a:rPr lang="en-IN" sz="2000" b="0" dirty="0"/>
              <a:t>Automated purchase order generation </a:t>
            </a:r>
          </a:p>
          <a:p>
            <a:pPr lvl="0"/>
            <a:r>
              <a:rPr lang="en-IN" sz="2000" b="0" dirty="0"/>
              <a:t>Confirmation, dispatch, transit &amp; delivery tracking </a:t>
            </a:r>
          </a:p>
          <a:p>
            <a:pPr lvl="0"/>
            <a:r>
              <a:rPr lang="en-IN" sz="2000" b="0" dirty="0"/>
              <a:t>Partial/full material receipt </a:t>
            </a:r>
          </a:p>
          <a:p>
            <a:pPr lvl="0"/>
            <a:r>
              <a:rPr lang="en-IN" sz="2000" b="0" dirty="0"/>
              <a:t>Inventory &amp; supplier availability updates</a:t>
            </a:r>
          </a:p>
          <a:p>
            <a:pPr lvl="1"/>
            <a:endParaRPr lang="en-US" sz="2000" dirty="0">
              <a:solidFill>
                <a:srgbClr val="1C3898"/>
              </a:solidFill>
            </a:endParaRPr>
          </a:p>
          <a:p>
            <a:pPr lvl="1"/>
            <a:endParaRPr lang="en-US" sz="2000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11A181-F833-C948-DAB2-F12C8B072C02}"/>
              </a:ext>
            </a:extLst>
          </p:cNvPr>
          <p:cNvSpPr txBox="1"/>
          <p:nvPr/>
        </p:nvSpPr>
        <p:spPr>
          <a:xfrm>
            <a:off x="255996" y="502545"/>
            <a:ext cx="10624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Modules to cover…. </a:t>
            </a:r>
          </a:p>
          <a:p>
            <a:pPr lvl="0"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585B7F-8B2C-F722-F59D-EE423F21B7C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881E81E-BEE5-CADD-AA38-60B14D2E40E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0790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6249A-23E9-13F6-DAC2-BA0F918CF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9EBE78-89CD-E6E6-AD76-9C2DBBAF92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dirty="0">
                <a:latin typeface="+mn-lt"/>
              </a:rPr>
              <a:t>Module 5: Supply Chain Knowledge Intelligence — Knowledge Graph &amp; Graph-RAG</a:t>
            </a:r>
          </a:p>
          <a:p>
            <a:pPr lvl="0"/>
            <a:r>
              <a:rPr lang="en-IN" sz="2000" b="0" dirty="0">
                <a:latin typeface="+mn-lt"/>
              </a:rPr>
              <a:t>Vehicle–BOM–component–supplier–inventory–PO relationship mapping </a:t>
            </a:r>
          </a:p>
          <a:p>
            <a:pPr lvl="0"/>
            <a:r>
              <a:rPr lang="en-IN" sz="2000" b="0" dirty="0">
                <a:latin typeface="+mn-lt"/>
              </a:rPr>
              <a:t>Neo4j-based supply-chain Knowledge Graph </a:t>
            </a:r>
          </a:p>
          <a:p>
            <a:pPr lvl="0"/>
            <a:r>
              <a:rPr lang="en-IN" sz="2000" b="0" dirty="0">
                <a:latin typeface="+mn-lt"/>
              </a:rPr>
              <a:t>Graph-RAG + LLM-based intelligent querying </a:t>
            </a:r>
          </a:p>
          <a:p>
            <a:pPr lvl="0"/>
            <a:r>
              <a:rPr lang="en-IN" sz="2000" b="0" dirty="0">
                <a:latin typeface="+mn-lt"/>
              </a:rPr>
              <a:t>Context-aware supply-chain knowledge retrieval </a:t>
            </a:r>
          </a:p>
          <a:p>
            <a:pPr lvl="0"/>
            <a:endParaRPr lang="en-IN" sz="2000" b="0" dirty="0">
              <a:latin typeface="+mn-lt"/>
            </a:endParaRPr>
          </a:p>
          <a:p>
            <a:pPr marL="0" indent="0">
              <a:buNone/>
            </a:pPr>
            <a:r>
              <a:rPr lang="en-IN" sz="2000" dirty="0">
                <a:latin typeface="+mn-lt"/>
              </a:rPr>
              <a:t>Module 6: Agentic AI Decision Support — Autonomous Supply Chain Intelligence</a:t>
            </a:r>
          </a:p>
          <a:p>
            <a:pPr lvl="0"/>
            <a:r>
              <a:rPr lang="en-IN" sz="2000" b="0" dirty="0">
                <a:latin typeface="+mn-lt"/>
              </a:rPr>
              <a:t>Inventory, Supplier, Procurement &amp; Risk AI agents </a:t>
            </a:r>
          </a:p>
          <a:p>
            <a:pPr lvl="0"/>
            <a:r>
              <a:rPr lang="en-IN" sz="2000" b="0" dirty="0">
                <a:latin typeface="+mn-lt"/>
              </a:rPr>
              <a:t>Multi-agent coordination and reasoning </a:t>
            </a:r>
          </a:p>
          <a:p>
            <a:pPr lvl="0"/>
            <a:r>
              <a:rPr lang="en-IN" sz="2000" b="0" dirty="0">
                <a:latin typeface="+mn-lt"/>
              </a:rPr>
              <a:t>Intelligent alerts &amp; recommendations </a:t>
            </a:r>
          </a:p>
          <a:p>
            <a:pPr lvl="0"/>
            <a:r>
              <a:rPr lang="en-IN" sz="2000" b="0" dirty="0">
                <a:latin typeface="+mn-lt"/>
              </a:rPr>
              <a:t>Explainable, context-aware decision support</a:t>
            </a:r>
          </a:p>
          <a:p>
            <a:pPr lvl="1"/>
            <a:endParaRPr lang="en-US" sz="2000" dirty="0">
              <a:solidFill>
                <a:srgbClr val="1C3898"/>
              </a:solidFill>
            </a:endParaRPr>
          </a:p>
          <a:p>
            <a:pPr lvl="1"/>
            <a:endParaRPr lang="en-US" sz="2000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FFB330-B358-7435-B6F1-B94FE82263C8}"/>
              </a:ext>
            </a:extLst>
          </p:cNvPr>
          <p:cNvSpPr txBox="1"/>
          <p:nvPr/>
        </p:nvSpPr>
        <p:spPr>
          <a:xfrm>
            <a:off x="255996" y="502545"/>
            <a:ext cx="10624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Modules to cover…. </a:t>
            </a:r>
          </a:p>
          <a:p>
            <a:pPr lvl="0"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42843E0-732B-93B1-7C01-10DC7C2154E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510B7CC-F25A-F135-7DEF-8B989EF8E36E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8746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5891" y="1514145"/>
            <a:ext cx="11936004" cy="4035298"/>
          </a:xfrm>
        </p:spPr>
        <p:txBody>
          <a:bodyPr/>
          <a:lstStyle/>
          <a:p>
            <a:pPr marL="0" indent="0">
              <a:buNone/>
            </a:pPr>
            <a:r>
              <a:rPr lang="en-IN" sz="2000" dirty="0">
                <a:latin typeface="+mn-lt"/>
              </a:rPr>
              <a:t>1. Data Integration &amp; Preprocessing</a:t>
            </a:r>
            <a:br>
              <a:rPr lang="en-IN" sz="2000" b="0" dirty="0">
                <a:latin typeface="+mn-lt"/>
              </a:rPr>
            </a:br>
            <a:r>
              <a:rPr lang="en-IN" sz="2000" b="0" dirty="0">
                <a:latin typeface="+mn-lt"/>
              </a:rPr>
              <a:t>PostgreSQL-based integration of vehicle, BOM, inventory, supplier, PO, and transaction data.</a:t>
            </a:r>
          </a:p>
          <a:p>
            <a:pPr marL="457200" indent="-457200">
              <a:buAutoNum type="arabicPeriod"/>
            </a:pPr>
            <a:endParaRPr lang="en-IN" sz="2000" b="0" dirty="0">
              <a:latin typeface="+mn-lt"/>
            </a:endParaRPr>
          </a:p>
          <a:p>
            <a:pPr marL="0" indent="0">
              <a:buNone/>
            </a:pPr>
            <a:r>
              <a:rPr lang="en-IN" sz="2000" dirty="0">
                <a:latin typeface="+mn-lt"/>
              </a:rPr>
              <a:t>2. BOM &amp; Inventory Analysis</a:t>
            </a:r>
            <a:br>
              <a:rPr lang="en-IN" sz="2000" b="0" dirty="0">
                <a:latin typeface="+mn-lt"/>
              </a:rPr>
            </a:br>
            <a:r>
              <a:rPr lang="en-IN" sz="2000" b="0" dirty="0">
                <a:latin typeface="+mn-lt"/>
              </a:rPr>
              <a:t>Calculate component requirements from production plans and identify shortages using available inventory, safety stock, and incoming orders.</a:t>
            </a:r>
          </a:p>
          <a:p>
            <a:pPr marL="0" indent="0">
              <a:buNone/>
            </a:pPr>
            <a:endParaRPr lang="en-IN" sz="2000" b="0" dirty="0">
              <a:latin typeface="+mn-lt"/>
            </a:endParaRPr>
          </a:p>
          <a:p>
            <a:pPr marL="0" indent="0">
              <a:buNone/>
            </a:pPr>
            <a:r>
              <a:rPr lang="en-IN" sz="2000" dirty="0">
                <a:latin typeface="+mn-lt"/>
              </a:rPr>
              <a:t>3. Supplier Risk Prediction — XGBoost</a:t>
            </a:r>
            <a:br>
              <a:rPr lang="en-IN" sz="2000" b="0" dirty="0">
                <a:latin typeface="+mn-lt"/>
              </a:rPr>
            </a:br>
            <a:r>
              <a:rPr lang="en-IN" sz="2000" b="0" dirty="0">
                <a:latin typeface="+mn-lt"/>
              </a:rPr>
              <a:t>Predict supplier risk using historical supplier performance and operational features.</a:t>
            </a:r>
          </a:p>
          <a:p>
            <a:pPr marL="0" indent="0">
              <a:buNone/>
            </a:pPr>
            <a:endParaRPr lang="en-IN" sz="2000" b="0" dirty="0">
              <a:latin typeface="+mn-lt"/>
            </a:endParaRPr>
          </a:p>
          <a:p>
            <a:pPr marL="0" indent="0">
              <a:buNone/>
            </a:pPr>
            <a:r>
              <a:rPr lang="en-IN" sz="2000" dirty="0">
                <a:latin typeface="+mn-lt"/>
              </a:rPr>
              <a:t>4. Multi-Criteria Supplier Ranking</a:t>
            </a:r>
            <a:br>
              <a:rPr lang="en-IN" sz="2000" b="0" dirty="0">
                <a:latin typeface="+mn-lt"/>
              </a:rPr>
            </a:br>
            <a:r>
              <a:rPr lang="en-IN" sz="2000" b="0" dirty="0">
                <a:latin typeface="+mn-lt"/>
              </a:rPr>
              <a:t>Rank eligible suppliers using availability, reliability, fulfilment, quality, AI risk, price, and lead time.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55996" y="1111439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AEC5F-D79F-D4C7-5394-5A0761426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EDA5570-CC3B-F7A4-C741-2525DB685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523255"/>
            <a:ext cx="11936004" cy="4142989"/>
          </a:xfrm>
        </p:spPr>
        <p:txBody>
          <a:bodyPr/>
          <a:lstStyle/>
          <a:p>
            <a:pPr marL="0" indent="0">
              <a:buNone/>
            </a:pPr>
            <a:r>
              <a:rPr lang="en-IN" sz="2000" dirty="0">
                <a:latin typeface="+mn-lt"/>
              </a:rPr>
              <a:t>5. Intelligent Procurement Recommendation</a:t>
            </a:r>
            <a:br>
              <a:rPr lang="en-IN" sz="2000" dirty="0">
                <a:latin typeface="+mn-lt"/>
              </a:rPr>
            </a:br>
            <a:r>
              <a:rPr lang="en-IN" sz="2000" b="0" dirty="0">
                <a:latin typeface="+mn-lt"/>
              </a:rPr>
              <a:t>Recommend the appropriate component quantity and supplier for identified shortages.</a:t>
            </a:r>
          </a:p>
          <a:p>
            <a:pPr marL="0" indent="0">
              <a:buNone/>
            </a:pPr>
            <a:endParaRPr lang="en-IN" sz="2000" b="0" dirty="0">
              <a:latin typeface="+mn-lt"/>
            </a:endParaRPr>
          </a:p>
          <a:p>
            <a:pPr marL="0" indent="0">
              <a:buNone/>
            </a:pPr>
            <a:r>
              <a:rPr lang="en-IN" sz="2000" dirty="0">
                <a:latin typeface="+mn-lt"/>
              </a:rPr>
              <a:t>6. Purchase Order &amp; Inventory Management</a:t>
            </a:r>
            <a:br>
              <a:rPr lang="en-IN" sz="2000" b="0" dirty="0">
                <a:latin typeface="+mn-lt"/>
              </a:rPr>
            </a:br>
            <a:r>
              <a:rPr lang="en-IN" sz="2000" b="0" dirty="0">
                <a:latin typeface="+mn-lt"/>
              </a:rPr>
              <a:t>Track purchase orders through delivery and update warehouse inventory after material receipt.</a:t>
            </a:r>
          </a:p>
          <a:p>
            <a:pPr marL="0" indent="0">
              <a:buNone/>
            </a:pPr>
            <a:endParaRPr lang="en-IN" sz="2000" b="0" dirty="0">
              <a:latin typeface="+mn-lt"/>
            </a:endParaRPr>
          </a:p>
          <a:p>
            <a:pPr marL="0" indent="0">
              <a:buNone/>
            </a:pPr>
            <a:r>
              <a:rPr lang="en-IN" sz="2000" dirty="0">
                <a:latin typeface="+mn-lt"/>
              </a:rPr>
              <a:t>7. Knowledge Graph &amp; Graph-RAG</a:t>
            </a:r>
            <a:br>
              <a:rPr lang="en-IN" sz="2000" b="0" dirty="0">
                <a:latin typeface="+mn-lt"/>
              </a:rPr>
            </a:br>
            <a:r>
              <a:rPr lang="en-IN" sz="2000" b="0" dirty="0">
                <a:latin typeface="+mn-lt"/>
              </a:rPr>
              <a:t>Model supply-chain relationships in Neo4j and retrieve connected supply-chain information through Graph-RAG</a:t>
            </a:r>
            <a:r>
              <a:rPr lang="en-IN" sz="2000" b="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B03FB2-6876-4B28-E15F-39684EA1A1C5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F09EDE-D45F-BD6B-074E-70AAC3EBC7FD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EA708D5-1C64-3619-EAC1-8542C02F6C7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3968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271219"/>
            <a:ext cx="12192000" cy="4142989"/>
          </a:xfrm>
        </p:spPr>
        <p:txBody>
          <a:bodyPr/>
          <a:lstStyle/>
          <a:p>
            <a:pPr lvl="0"/>
            <a:endParaRPr lang="en-IN" sz="2000" dirty="0">
              <a:latin typeface="+mn-lt"/>
            </a:endParaRPr>
          </a:p>
          <a:p>
            <a:pPr lvl="0"/>
            <a:r>
              <a:rPr lang="en-IN" sz="2000" dirty="0">
                <a:latin typeface="+mn-lt"/>
              </a:rPr>
              <a:t>Data Source: </a:t>
            </a:r>
            <a:r>
              <a:rPr lang="en-IN" sz="2000" b="0" dirty="0">
                <a:latin typeface="+mn-lt"/>
              </a:rPr>
              <a:t>The project uses a synthetic EV manufacturing supply-chain dataset, designed to simulate realistic industry operations. </a:t>
            </a:r>
          </a:p>
          <a:p>
            <a:pPr lvl="0"/>
            <a:endParaRPr lang="en-IN" sz="2000" b="0" dirty="0">
              <a:latin typeface="+mn-lt"/>
            </a:endParaRPr>
          </a:p>
          <a:p>
            <a:pPr lvl="0"/>
            <a:r>
              <a:rPr lang="en-IN" sz="2000" dirty="0">
                <a:latin typeface="+mn-lt"/>
              </a:rPr>
              <a:t>Dataset Coverage</a:t>
            </a:r>
            <a:r>
              <a:rPr lang="en-IN" sz="2000" b="0" dirty="0">
                <a:latin typeface="+mn-lt"/>
              </a:rPr>
              <a:t>: It contains data for vehicles, components, BOM, suppliers, supplier-component relationships, warehouse inventory, purchase orders, inventory transactions, and supplier performance. </a:t>
            </a:r>
          </a:p>
          <a:p>
            <a:pPr lvl="0"/>
            <a:endParaRPr lang="en-IN" sz="2000" b="0" dirty="0">
              <a:latin typeface="+mn-lt"/>
            </a:endParaRPr>
          </a:p>
          <a:p>
            <a:pPr lvl="0"/>
            <a:r>
              <a:rPr lang="en-IN" sz="2000" dirty="0">
                <a:latin typeface="+mn-lt"/>
              </a:rPr>
              <a:t>Why Synthetic Data: </a:t>
            </a:r>
            <a:r>
              <a:rPr lang="en-IN" sz="2000" b="0" dirty="0">
                <a:latin typeface="+mn-lt"/>
              </a:rPr>
              <a:t>Synthetic data enables development and testing of the complete procurement workflow without requiring confidential or proprietary industrial supply-chain data.</a:t>
            </a:r>
          </a:p>
          <a:p>
            <a:pPr marL="0" lvl="0" indent="0">
              <a:buNone/>
            </a:pPr>
            <a:r>
              <a:rPr lang="en-IN" sz="2000" b="0" dirty="0">
                <a:latin typeface="+mn-lt"/>
              </a:rPr>
              <a:t> </a:t>
            </a:r>
          </a:p>
          <a:p>
            <a:pPr lvl="0"/>
            <a:r>
              <a:rPr lang="en-IN" sz="2000" dirty="0">
                <a:latin typeface="+mn-lt"/>
              </a:rPr>
              <a:t>Project Usefulness: </a:t>
            </a:r>
            <a:r>
              <a:rPr lang="en-IN" sz="2000" b="0" dirty="0">
                <a:latin typeface="+mn-lt"/>
              </a:rPr>
              <a:t>The dataset supports BOM-based material requirement calculation, inventory and shortage analysis, supplier evaluation, XGBoost risk prediction, supplier ranking, procurement recommendations, and purchase-order management. </a:t>
            </a:r>
          </a:p>
          <a:p>
            <a:pPr lvl="0"/>
            <a:endParaRPr lang="en-IN" sz="2000" b="0" dirty="0"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0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41377-17D3-0BF5-FC14-F87D4840A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B84AA1-B70C-C0F3-D1C4-A5D536A986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440847"/>
            <a:ext cx="10624338" cy="4142989"/>
          </a:xfrm>
        </p:spPr>
        <p:txBody>
          <a:bodyPr/>
          <a:lstStyle/>
          <a:p>
            <a:pPr lvl="0"/>
            <a:r>
              <a:rPr lang="en-IN" sz="2000" dirty="0">
                <a:latin typeface="+mn-lt"/>
              </a:rPr>
              <a:t>Preprocessing: </a:t>
            </a:r>
            <a:r>
              <a:rPr lang="en-IN" sz="2000" b="0" dirty="0">
                <a:latin typeface="+mn-lt"/>
              </a:rPr>
              <a:t>Missing values, duplicates, invalid values, data types, and relationships between datasets are checked and cleaned before analysis. </a:t>
            </a:r>
          </a:p>
          <a:p>
            <a:pPr lvl="0"/>
            <a:endParaRPr lang="en-IN" sz="2000" b="0" dirty="0">
              <a:latin typeface="+mn-lt"/>
            </a:endParaRPr>
          </a:p>
          <a:p>
            <a:pPr lvl="0"/>
            <a:r>
              <a:rPr lang="en-IN" sz="2000" dirty="0">
                <a:latin typeface="+mn-lt"/>
              </a:rPr>
              <a:t>EDA: </a:t>
            </a:r>
            <a:r>
              <a:rPr lang="en-IN" sz="2000" b="0" dirty="0">
                <a:latin typeface="+mn-lt"/>
              </a:rPr>
              <a:t>Inventory patterns, supplier performance, reliability, quality, fulfillment, lead time, pricing, and risk-class distributions are analyzed. </a:t>
            </a:r>
          </a:p>
          <a:p>
            <a:pPr lvl="0"/>
            <a:endParaRPr lang="en-IN" sz="2000" b="0" dirty="0">
              <a:latin typeface="+mn-lt"/>
            </a:endParaRPr>
          </a:p>
          <a:p>
            <a:pPr lvl="0"/>
            <a:r>
              <a:rPr lang="en-IN" sz="2000" dirty="0">
                <a:latin typeface="+mn-lt"/>
              </a:rPr>
              <a:t>Data Integration: </a:t>
            </a:r>
            <a:r>
              <a:rPr lang="en-IN" sz="2000" b="0" dirty="0">
                <a:latin typeface="+mn-lt"/>
              </a:rPr>
              <a:t>Cleaned datasets are stored in PostgreSQL and relevant relationships are also represented in Neo4j for Knowledge Graph and Graph-RAG functionality.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E6E60A-E98F-FA42-3B4A-617EA79E5756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CABEAB-D807-A07A-4587-AB4ABBE2B8E6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3F69102-5621-A20B-1295-A1CAC1784B2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3723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406130"/>
            <a:ext cx="12065919" cy="4499992"/>
          </a:xfrm>
        </p:spPr>
        <p:txBody>
          <a:bodyPr/>
          <a:lstStyle/>
          <a:p>
            <a:pPr lvl="0"/>
            <a:r>
              <a:rPr lang="en-IN" sz="2000" dirty="0">
                <a:latin typeface="+mn-lt"/>
              </a:rPr>
              <a:t>BOM-Based Requirement Analysis: </a:t>
            </a:r>
            <a:r>
              <a:rPr lang="en-IN" sz="2000" b="0" dirty="0">
                <a:latin typeface="+mn-lt"/>
              </a:rPr>
              <a:t>Calculates component requirements based on the vehicle production plan and Bill of Materials. </a:t>
            </a:r>
          </a:p>
          <a:p>
            <a:pPr lvl="0"/>
            <a:r>
              <a:rPr lang="en-IN" sz="2000" dirty="0">
                <a:latin typeface="+mn-lt"/>
              </a:rPr>
              <a:t>Inventory &amp; Shortage Analysis: </a:t>
            </a:r>
            <a:r>
              <a:rPr lang="en-IN" sz="2000" b="0" dirty="0">
                <a:latin typeface="+mn-lt"/>
              </a:rPr>
              <a:t>Compares required quantity with available stock, safety stock, and incoming purchase orders. </a:t>
            </a:r>
          </a:p>
          <a:p>
            <a:pPr lvl="0"/>
            <a:r>
              <a:rPr lang="en-IN" sz="2000" dirty="0">
                <a:latin typeface="+mn-lt"/>
              </a:rPr>
              <a:t>XGBoost Classification: </a:t>
            </a:r>
            <a:r>
              <a:rPr lang="en-IN" sz="2000" b="0" dirty="0">
                <a:latin typeface="+mn-lt"/>
              </a:rPr>
              <a:t>Predicts supplier risk levels using supplier performance and operational features. </a:t>
            </a:r>
          </a:p>
          <a:p>
            <a:pPr lvl="0"/>
            <a:r>
              <a:rPr lang="en-IN" sz="2000" dirty="0">
                <a:latin typeface="+mn-lt"/>
              </a:rPr>
              <a:t>Multi-Criteria Weighted Ranking: </a:t>
            </a:r>
            <a:r>
              <a:rPr lang="en-IN" sz="2000" b="0" dirty="0">
                <a:latin typeface="+mn-lt"/>
              </a:rPr>
              <a:t>Ranks suppliers based on reliability, </a:t>
            </a:r>
            <a:r>
              <a:rPr lang="en-IN" sz="2000" b="0" dirty="0" err="1">
                <a:latin typeface="+mn-lt"/>
              </a:rPr>
              <a:t>fulfillment</a:t>
            </a:r>
            <a:r>
              <a:rPr lang="en-IN" sz="2000" b="0" dirty="0">
                <a:latin typeface="+mn-lt"/>
              </a:rPr>
              <a:t>, availability, quality, AI risk, price, and lead time. </a:t>
            </a:r>
          </a:p>
          <a:p>
            <a:pPr lvl="0"/>
            <a:r>
              <a:rPr lang="en-IN" sz="2000" dirty="0">
                <a:latin typeface="+mn-lt"/>
              </a:rPr>
              <a:t>Procurement Decision Logic: </a:t>
            </a:r>
            <a:r>
              <a:rPr lang="en-IN" sz="2000" b="0" dirty="0">
                <a:latin typeface="+mn-lt"/>
              </a:rPr>
              <a:t>Recommends the procurement quantity and suitable supplier for component shortages. </a:t>
            </a:r>
          </a:p>
          <a:p>
            <a:pPr lvl="0"/>
            <a:r>
              <a:rPr lang="en-IN" sz="2000" dirty="0">
                <a:latin typeface="+mn-lt"/>
              </a:rPr>
              <a:t>Knowledge Graph &amp; Graph-RAG: </a:t>
            </a:r>
            <a:r>
              <a:rPr lang="en-IN" sz="2000" b="0" dirty="0">
                <a:latin typeface="+mn-lt"/>
              </a:rPr>
              <a:t>Uses Neo4j to represent Vehicle–Component–Supplier–Warehouse–PO relationships and retrieve connected information.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8535A-3D89-BB6A-2D98-4A9F5BCC3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3B969F-780C-93E7-125F-F884C18DD2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54046" y="1406130"/>
            <a:ext cx="10867869" cy="4499992"/>
          </a:xfrm>
        </p:spPr>
        <p:txBody>
          <a:bodyPr/>
          <a:lstStyle/>
          <a:p>
            <a:pPr marL="0" indent="0">
              <a:buNone/>
            </a:pPr>
            <a:r>
              <a:rPr lang="en-IN" sz="2000" dirty="0">
                <a:latin typeface="+mn-lt"/>
              </a:rPr>
              <a:t>Tools &amp; Technologies:</a:t>
            </a:r>
          </a:p>
          <a:p>
            <a:r>
              <a:rPr lang="en-IN" sz="2000" b="0" dirty="0">
                <a:latin typeface="+mn-lt"/>
              </a:rPr>
              <a:t>Python </a:t>
            </a:r>
          </a:p>
          <a:p>
            <a:r>
              <a:rPr lang="en-IN" sz="2000" b="0" dirty="0">
                <a:latin typeface="+mn-lt"/>
              </a:rPr>
              <a:t>Pandas</a:t>
            </a:r>
          </a:p>
          <a:p>
            <a:r>
              <a:rPr lang="en-IN" sz="2000" b="0" dirty="0">
                <a:latin typeface="+mn-lt"/>
              </a:rPr>
              <a:t>NumPy</a:t>
            </a:r>
          </a:p>
          <a:p>
            <a:r>
              <a:rPr lang="en-IN" sz="2000" b="0" dirty="0">
                <a:latin typeface="+mn-lt"/>
              </a:rPr>
              <a:t>Scikit-learn</a:t>
            </a:r>
          </a:p>
          <a:p>
            <a:r>
              <a:rPr lang="en-IN" sz="2000" b="0" dirty="0">
                <a:latin typeface="+mn-lt"/>
              </a:rPr>
              <a:t>XGBoost </a:t>
            </a:r>
          </a:p>
          <a:p>
            <a:r>
              <a:rPr lang="en-IN" sz="2000" b="0" dirty="0">
                <a:latin typeface="+mn-lt"/>
              </a:rPr>
              <a:t>Fast API </a:t>
            </a:r>
          </a:p>
          <a:p>
            <a:r>
              <a:rPr lang="en-IN" sz="2000" b="0" dirty="0">
                <a:latin typeface="+mn-lt"/>
              </a:rPr>
              <a:t>PostgreSQL </a:t>
            </a:r>
          </a:p>
          <a:p>
            <a:r>
              <a:rPr lang="en-IN" sz="2000" b="0" dirty="0">
                <a:latin typeface="+mn-lt"/>
              </a:rPr>
              <a:t>SQL Alchemy </a:t>
            </a:r>
          </a:p>
          <a:p>
            <a:r>
              <a:rPr lang="en-IN" sz="2000" b="0" dirty="0">
                <a:latin typeface="+mn-lt"/>
              </a:rPr>
              <a:t>Neo4j</a:t>
            </a:r>
          </a:p>
          <a:p>
            <a:r>
              <a:rPr lang="en-IN" sz="2000" b="0" dirty="0">
                <a:latin typeface="+mn-lt"/>
              </a:rPr>
              <a:t>React.js</a:t>
            </a:r>
          </a:p>
          <a:p>
            <a:r>
              <a:rPr lang="en-IN" sz="2000" b="0" dirty="0">
                <a:latin typeface="+mn-lt"/>
              </a:rPr>
              <a:t>Material UI | </a:t>
            </a:r>
          </a:p>
          <a:p>
            <a:r>
              <a:rPr lang="en-IN" sz="2000" b="0" dirty="0">
                <a:latin typeface="+mn-lt"/>
              </a:rPr>
              <a:t>Graph-RAG</a:t>
            </a:r>
            <a:endParaRPr lang="en-US" sz="20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CE651A-39D2-733C-EFFC-BD35D18421E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B6CE931-ED25-D18B-9F10-A436420020C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09AD91F-F3E8-9982-FC00-DE2F44809C4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4540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plan/Milestone Progress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9A3385E-4151-F26E-DA88-7D8FC5264C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194725"/>
              </p:ext>
            </p:extLst>
          </p:nvPr>
        </p:nvGraphicFramePr>
        <p:xfrm>
          <a:off x="416146" y="1234636"/>
          <a:ext cx="11650935" cy="48813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83645">
                  <a:extLst>
                    <a:ext uri="{9D8B030D-6E8A-4147-A177-3AD203B41FA5}">
                      <a16:colId xmlns:a16="http://schemas.microsoft.com/office/drawing/2014/main" val="1626725249"/>
                    </a:ext>
                  </a:extLst>
                </a:gridCol>
                <a:gridCol w="3883645">
                  <a:extLst>
                    <a:ext uri="{9D8B030D-6E8A-4147-A177-3AD203B41FA5}">
                      <a16:colId xmlns:a16="http://schemas.microsoft.com/office/drawing/2014/main" val="2697246095"/>
                    </a:ext>
                  </a:extLst>
                </a:gridCol>
                <a:gridCol w="3883645">
                  <a:extLst>
                    <a:ext uri="{9D8B030D-6E8A-4147-A177-3AD203B41FA5}">
                      <a16:colId xmlns:a16="http://schemas.microsoft.com/office/drawing/2014/main" val="2577385552"/>
                    </a:ext>
                  </a:extLst>
                </a:gridCol>
              </a:tblGrid>
              <a:tr h="505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Milestone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Key Work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Progress</a:t>
                      </a:r>
                    </a:p>
                  </a:txBody>
                  <a:tcPr marL="64787" marR="64787" marT="32394" marB="32394" anchor="ctr"/>
                </a:tc>
                <a:extLst>
                  <a:ext uri="{0D108BD9-81ED-4DB2-BD59-A6C34878D82A}">
                    <a16:rowId xmlns:a16="http://schemas.microsoft.com/office/drawing/2014/main" val="754131679"/>
                  </a:ext>
                </a:extLst>
              </a:tr>
              <a:tr h="872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1. Data Preparation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Synthetic EV supply-chain dataset, preprocessing &amp; EDA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✅ Completed</a:t>
                      </a:r>
                    </a:p>
                  </a:txBody>
                  <a:tcPr marL="64787" marR="64787" marT="32394" marB="32394" anchor="ctr"/>
                </a:tc>
                <a:extLst>
                  <a:ext uri="{0D108BD9-81ED-4DB2-BD59-A6C34878D82A}">
                    <a16:rowId xmlns:a16="http://schemas.microsoft.com/office/drawing/2014/main" val="2007915445"/>
                  </a:ext>
                </a:extLst>
              </a:tr>
              <a:tr h="872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2. Database Development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PostgreSQL database integration and validation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✅ Completed</a:t>
                      </a:r>
                    </a:p>
                  </a:txBody>
                  <a:tcPr marL="64787" marR="64787" marT="32394" marB="32394" anchor="ctr"/>
                </a:tc>
                <a:extLst>
                  <a:ext uri="{0D108BD9-81ED-4DB2-BD59-A6C34878D82A}">
                    <a16:rowId xmlns:a16="http://schemas.microsoft.com/office/drawing/2014/main" val="3297299172"/>
                  </a:ext>
                </a:extLst>
              </a:tr>
              <a:tr h="886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3. Inventory &amp; BOM Analysis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Material requirements, stock analysis &amp; shortage detection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✅ Completed</a:t>
                      </a:r>
                    </a:p>
                  </a:txBody>
                  <a:tcPr marL="64787" marR="64787" marT="32394" marB="32394" anchor="ctr"/>
                </a:tc>
                <a:extLst>
                  <a:ext uri="{0D108BD9-81ED-4DB2-BD59-A6C34878D82A}">
                    <a16:rowId xmlns:a16="http://schemas.microsoft.com/office/drawing/2014/main" val="3153270122"/>
                  </a:ext>
                </a:extLst>
              </a:tr>
              <a:tr h="872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4. Supplier Risk Model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XGBoost-based supplier risk prediction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✅ Completed</a:t>
                      </a:r>
                    </a:p>
                  </a:txBody>
                  <a:tcPr marL="64787" marR="64787" marT="32394" marB="32394" anchor="ctr"/>
                </a:tc>
                <a:extLst>
                  <a:ext uri="{0D108BD9-81ED-4DB2-BD59-A6C34878D82A}">
                    <a16:rowId xmlns:a16="http://schemas.microsoft.com/office/drawing/2014/main" val="2037209721"/>
                  </a:ext>
                </a:extLst>
              </a:tr>
              <a:tr h="872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5. Supplier Ranking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Multi-criteria supplier evaluation and ranking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✅ Completed</a:t>
                      </a:r>
                    </a:p>
                  </a:txBody>
                  <a:tcPr marL="64787" marR="64787" marT="32394" marB="32394" anchor="ctr"/>
                </a:tc>
                <a:extLst>
                  <a:ext uri="{0D108BD9-81ED-4DB2-BD59-A6C34878D82A}">
                    <a16:rowId xmlns:a16="http://schemas.microsoft.com/office/drawing/2014/main" val="3564308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0CF27-F222-6CB9-7F35-7E8A781F0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ED0278-4E33-0BD7-9B57-0EAFE9EB260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plan/Milestone Progress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3B2BF7-3039-6C31-2EF3-7FE42568240B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EDF9E3E-38FE-01AD-40DB-2623F9BAED8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0E9FF0C-F18D-6DE4-88A7-E645BBA77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540331"/>
              </p:ext>
            </p:extLst>
          </p:nvPr>
        </p:nvGraphicFramePr>
        <p:xfrm>
          <a:off x="416146" y="1234635"/>
          <a:ext cx="11650935" cy="44316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83645">
                  <a:extLst>
                    <a:ext uri="{9D8B030D-6E8A-4147-A177-3AD203B41FA5}">
                      <a16:colId xmlns:a16="http://schemas.microsoft.com/office/drawing/2014/main" val="1626725249"/>
                    </a:ext>
                  </a:extLst>
                </a:gridCol>
                <a:gridCol w="3883645">
                  <a:extLst>
                    <a:ext uri="{9D8B030D-6E8A-4147-A177-3AD203B41FA5}">
                      <a16:colId xmlns:a16="http://schemas.microsoft.com/office/drawing/2014/main" val="2697246095"/>
                    </a:ext>
                  </a:extLst>
                </a:gridCol>
                <a:gridCol w="3883645">
                  <a:extLst>
                    <a:ext uri="{9D8B030D-6E8A-4147-A177-3AD203B41FA5}">
                      <a16:colId xmlns:a16="http://schemas.microsoft.com/office/drawing/2014/main" val="2577385552"/>
                    </a:ext>
                  </a:extLst>
                </a:gridCol>
              </a:tblGrid>
              <a:tr h="886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6. Procurement Module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Procurement quantity &amp; supplier recommendations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✅ Completed</a:t>
                      </a:r>
                    </a:p>
                  </a:txBody>
                  <a:tcPr marL="64787" marR="64787" marT="32394" marB="32394" anchor="ctr"/>
                </a:tc>
                <a:extLst>
                  <a:ext uri="{0D108BD9-81ED-4DB2-BD59-A6C34878D82A}">
                    <a16:rowId xmlns:a16="http://schemas.microsoft.com/office/drawing/2014/main" val="754131679"/>
                  </a:ext>
                </a:extLst>
              </a:tr>
              <a:tr h="886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7. Purchase Order Management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PO creation, tracking, receipt &amp; inventory updates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✅ Completed</a:t>
                      </a:r>
                    </a:p>
                  </a:txBody>
                  <a:tcPr marL="64787" marR="64787" marT="32394" marB="32394" anchor="ctr"/>
                </a:tc>
                <a:extLst>
                  <a:ext uri="{0D108BD9-81ED-4DB2-BD59-A6C34878D82A}">
                    <a16:rowId xmlns:a16="http://schemas.microsoft.com/office/drawing/2014/main" val="2007915445"/>
                  </a:ext>
                </a:extLst>
              </a:tr>
              <a:tr h="886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8. Knowledge Graph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Neo4j-based supply-chain relationship modelling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✅ Completed</a:t>
                      </a:r>
                    </a:p>
                  </a:txBody>
                  <a:tcPr marL="64787" marR="64787" marT="32394" marB="32394" anchor="ctr"/>
                </a:tc>
                <a:extLst>
                  <a:ext uri="{0D108BD9-81ED-4DB2-BD59-A6C34878D82A}">
                    <a16:rowId xmlns:a16="http://schemas.microsoft.com/office/drawing/2014/main" val="3297299172"/>
                  </a:ext>
                </a:extLst>
              </a:tr>
              <a:tr h="886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9. Graph-RAG Integration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Graph-based querying &amp; decision-support interface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🟡 In Progress</a:t>
                      </a:r>
                    </a:p>
                  </a:txBody>
                  <a:tcPr marL="64787" marR="64787" marT="32394" marB="32394" anchor="ctr"/>
                </a:tc>
                <a:extLst>
                  <a:ext uri="{0D108BD9-81ED-4DB2-BD59-A6C34878D82A}">
                    <a16:rowId xmlns:a16="http://schemas.microsoft.com/office/drawing/2014/main" val="3153270122"/>
                  </a:ext>
                </a:extLst>
              </a:tr>
              <a:tr h="886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10. Testing &amp; Validation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End-to-end testing, model evaluation &amp; system optimization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⏳ Pending</a:t>
                      </a:r>
                    </a:p>
                  </a:txBody>
                  <a:tcPr marL="64787" marR="64787" marT="32394" marB="32394" anchor="ctr"/>
                </a:tc>
                <a:extLst>
                  <a:ext uri="{0D108BD9-81ED-4DB2-BD59-A6C34878D82A}">
                    <a16:rowId xmlns:a16="http://schemas.microsoft.com/office/drawing/2014/main" val="2037209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7525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7180706-D41F-C262-92E6-0767DB78BB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090"/>
          <a:stretch>
            <a:fillRect/>
          </a:stretch>
        </p:blipFill>
        <p:spPr>
          <a:xfrm>
            <a:off x="0" y="1469035"/>
            <a:ext cx="12192000" cy="47671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1259</Words>
  <Application>Microsoft Office PowerPoint</Application>
  <PresentationFormat>Widescreen</PresentationFormat>
  <Paragraphs>166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GohilRadha Maheshbhai</cp:lastModifiedBy>
  <cp:revision>13</cp:revision>
  <dcterms:created xsi:type="dcterms:W3CDTF">2024-05-13T10:33:11Z</dcterms:created>
  <dcterms:modified xsi:type="dcterms:W3CDTF">2026-09-22T04:44:53Z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