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147470489" r:id="rId2"/>
    <p:sldId id="2147470492" r:id="rId3"/>
    <p:sldId id="2147470493" r:id="rId4"/>
    <p:sldId id="2147470494" r:id="rId5"/>
    <p:sldId id="2147470500" r:id="rId6"/>
    <p:sldId id="2147470495" r:id="rId7"/>
    <p:sldId id="2147470496" r:id="rId8"/>
    <p:sldId id="2147470497" r:id="rId9"/>
    <p:sldId id="2147470491" r:id="rId10"/>
    <p:sldId id="2147470487" r:id="rId11"/>
    <p:sldId id="2147470499" r:id="rId12"/>
    <p:sldId id="21474704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1E23-5FE6-4169-971A-5D36755E2E84}" type="datetimeFigureOut">
              <a:rPr lang="en-US" smtClean="0"/>
              <a:t>07/09/2026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A916-A9E7-4CB9-A5D5-5E53B3815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59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A916-A9E7-4CB9-A5D5-5E53B38158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5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Electric Vehicle Manufacturing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NAME: RADHA GOHIL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T10002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1028" name="Picture 4" descr="LTM Limited: Business Creativity Partner for Digital Growth | Sreevarun MR posted on the topic | LinkedIn">
            <a:extLst>
              <a:ext uri="{FF2B5EF4-FFF2-40B4-BE49-F238E27FC236}">
                <a16:creationId xmlns:a16="http://schemas.microsoft.com/office/drawing/2014/main" id="{23C452DD-FAA5-45BB-648B-4A4E030E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36" y="5852666"/>
            <a:ext cx="2690483" cy="84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01950"/>
            <a:ext cx="12120664" cy="227627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dirty="0">
                <a:latin typeface="+mn-lt"/>
              </a:rPr>
              <a:t>The Intelligent Supply Chain Management Platform for Electric Vehicle Manufacturing is an AI-driven solution designed to optimize end-to-end EV supply-chain operations. 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latin typeface="+mn-lt"/>
              </a:rPr>
              <a:t>It integrates BOM-based component planning, inventory optimization, supplier risk analysis, intelligent procurement, and order tracking.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latin typeface="+mn-lt"/>
              </a:rPr>
              <a:t> By combining Machine Learning, Knowledge Graphs, Graph-RAG, and Agentic AI, the platform enables predictive decision-making, reduces supply disruptions and costs, and improves overall supply-chain efficiency and resilience.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30" y="1114947"/>
            <a:ext cx="12146770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Optimize inventory and component availability.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Predict supplier risks and disruptions using AI/ML.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Recommend the best suppliers and procurement decisions.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Improve purchase-order and supply-chain tracking.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Use Knowledge Graph, Graph-RAG, and AI agents for intelligent decision support.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Reduce shortages, delays, risks, and operational costs.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dirty="0">
                <a:latin typeface="+mn-lt"/>
              </a:rPr>
              <a:t>The platform covers the complete EV supply-chain workflow from demand forecasting and BOM-based component planning to inventory optimization, supplier evaluation, intelligent procurement, order tracking, and risk management. It further uses AI agents and Graph-RAG to provide automated insights, recommendations, alerts, and decision support.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04D2-AD43-022A-781E-AF0CA182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542004-F4DB-7D33-DB67-DE4D2BAF4CF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FBE8D8-D37C-FCF2-BA94-240A36A42BA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B3EA96-388A-95C0-ACD8-38655FFEC16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8722B8-4878-33B6-594E-ADD99AFA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81980"/>
              </p:ext>
            </p:extLst>
          </p:nvPr>
        </p:nvGraphicFramePr>
        <p:xfrm>
          <a:off x="557552" y="1322186"/>
          <a:ext cx="11378284" cy="3931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4571">
                  <a:extLst>
                    <a:ext uri="{9D8B030D-6E8A-4147-A177-3AD203B41FA5}">
                      <a16:colId xmlns:a16="http://schemas.microsoft.com/office/drawing/2014/main" val="3809988457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2477524976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3568668912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904458276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r>
                        <a:rPr lang="en-US" sz="1800" b="1" dirty="0"/>
                        <a:t>Study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Approach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Key Contribution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Limitation / Research Gap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692256"/>
                  </a:ext>
                </a:extLst>
              </a:tr>
              <a:tr h="647525">
                <a:tc>
                  <a:txBody>
                    <a:bodyPr/>
                    <a:lstStyle/>
                    <a:p>
                      <a:r>
                        <a:rPr lang="en-US" sz="1800" b="1"/>
                        <a:t>EV Supply Chain Management – Systematic Review (2023)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Systematic literature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Identified major EV supply-chain challenges including sustainability, sourcing, cost and supply risks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Limited focus on integrated AI-based decision-making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262304"/>
                  </a:ext>
                </a:extLst>
              </a:tr>
              <a:tr h="647525">
                <a:tc>
                  <a:txBody>
                    <a:bodyPr/>
                    <a:lstStyle/>
                    <a:p>
                      <a:r>
                        <a:rPr lang="en-US" sz="1800" b="1" dirty="0"/>
                        <a:t>EV Battery Supply Chain &amp; Critical Materials (2023)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Battery and critical-material supply-chain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Identified material dependency, sourcing risks and battery supply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Focused mainly on batteries/materials rather than the complete manufacturing supply 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560056"/>
                  </a:ext>
                </a:extLst>
              </a:tr>
              <a:tr h="647525">
                <a:tc>
                  <a:txBody>
                    <a:bodyPr/>
                    <a:lstStyle/>
                    <a:p>
                      <a:r>
                        <a:rPr lang="en-US" sz="1800" b="1"/>
                        <a:t>AI for Supply Chain Resilience (2023)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Machine Learning and AI-based supply-chain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Demonstrated the potential of AI for prediction, disruption detection and resilient supply chains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AI solutions are mostly applied to individual supply-chain problems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938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410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3B046D-6299-8BF9-DDF3-CFD3D35C5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288962"/>
              </p:ext>
            </p:extLst>
          </p:nvPr>
        </p:nvGraphicFramePr>
        <p:xfrm>
          <a:off x="255995" y="1234637"/>
          <a:ext cx="11378284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4571">
                  <a:extLst>
                    <a:ext uri="{9D8B030D-6E8A-4147-A177-3AD203B41FA5}">
                      <a16:colId xmlns:a16="http://schemas.microsoft.com/office/drawing/2014/main" val="3809988457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2477524976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3568668912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904458276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r>
                        <a:rPr lang="en-US" sz="1800" b="1" dirty="0"/>
                        <a:t>Study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Approach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Key Contribution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Limitation / Research Gap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692256"/>
                  </a:ext>
                </a:extLst>
              </a:tr>
              <a:tr h="647525">
                <a:tc>
                  <a:txBody>
                    <a:bodyPr/>
                    <a:lstStyle/>
                    <a:p>
                      <a:r>
                        <a:rPr lang="en-US" sz="1800" b="1"/>
                        <a:t>ML-Based Backorder Prediction (2024)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Machine Learning-based inventory/backorder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Improved early identification of potential stock shortages and replenishment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Focused on inventory prediction without supplier and procurement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815318"/>
                  </a:ext>
                </a:extLst>
              </a:tr>
              <a:tr h="526114">
                <a:tc>
                  <a:txBody>
                    <a:bodyPr/>
                    <a:lstStyle/>
                    <a:p>
                      <a:r>
                        <a:rPr lang="en-US" sz="1800" b="1"/>
                        <a:t>Knowledge Graphs &amp; LLMs for Supply Chain Visibility (2024)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Knowledge Graph + Large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Improved supply-chain visibility, relationship discovery and dependency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Limited integration with operational inventory and procurement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085025"/>
                  </a:ext>
                </a:extLst>
              </a:tr>
              <a:tr h="526114">
                <a:tc>
                  <a:txBody>
                    <a:bodyPr/>
                    <a:lstStyle/>
                    <a:p>
                      <a:r>
                        <a:rPr lang="en-US" sz="1800" b="1"/>
                        <a:t>Supplier Evaluation &amp; Risk Prediction for EV Industry (2026)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Multi-criteria supplier evaluation + 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Enables supplier evaluation and data-driven supplier risk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Primarily supplier-focused; lacks complete end-to-end EV supply-chain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593720"/>
                  </a:ext>
                </a:extLst>
              </a:tr>
              <a:tr h="890347">
                <a:tc>
                  <a:txBody>
                    <a:bodyPr/>
                    <a:lstStyle/>
                    <a:p>
                      <a:r>
                        <a:rPr lang="en-US" sz="1800" b="1"/>
                        <a:t>Proposed System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ML + XGBoost + Optimization + Knowledge Graph + Graph-RAG + Agentic AI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Integrates demand forecasting, BOM planning, inventory, supplier risk, procurement, tracking and intelligent decision support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Aims to bridge the gap between isolated AI solutions and an integrated end-to-end EV supply-chain platform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algn="just"/>
            <a:r>
              <a:rPr lang="en-US" b="0" dirty="0">
                <a:latin typeface="+mn-lt"/>
              </a:rPr>
              <a:t>Existing studies usually address individual problems such as EV battery supply risk, supplier evaluation, demand/backorder prediction, resilience, or Knowledge Graph-based visibility. There is limited work combining these capabilities into a single end-to-end EV manufacturing supply-chain platform.</a:t>
            </a:r>
          </a:p>
          <a:p>
            <a:pPr algn="just"/>
            <a:endParaRPr lang="en-US" b="0" dirty="0">
              <a:latin typeface="+mn-lt"/>
            </a:endParaRPr>
          </a:p>
          <a:p>
            <a:pPr algn="just"/>
            <a:r>
              <a:rPr lang="en-US" b="0" dirty="0">
                <a:latin typeface="+mn-lt"/>
              </a:rPr>
              <a:t>Proposed Solution:</a:t>
            </a:r>
          </a:p>
          <a:p>
            <a:pPr algn="just"/>
            <a:r>
              <a:rPr lang="en-US" b="0" dirty="0">
                <a:latin typeface="+mn-lt"/>
              </a:rPr>
              <a:t>BOM Planning → Inventory Optimization → Supplier Risk Prediction → Intelligent Procurement → Purchase Order Tracking → Knowledge Graph → Graph-RAG → Agentic AI Decision Support.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Tech Stack: React.js,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FastAPI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, PostgreSQL, Python,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XGBoost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, ML, Neo4j, Graph-RAG, LLMs, and Agentic AI.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Core Modules: Demand forecasting, BOM planning, inventory optimization, supplier risk analysis, procurement, and order tracking.</a:t>
            </a:r>
          </a:p>
          <a:p>
            <a:pPr algn="just">
              <a:lnSpc>
                <a:spcPct val="15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AI Intelligence: Predictive analytics, supplier recommendations, risk prediction, and AI-agent-based decision support.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dirty="0">
                <a:latin typeface="+mn-lt"/>
              </a:rPr>
              <a:t>Module 1: Inventory Management</a:t>
            </a:r>
          </a:p>
          <a:p>
            <a:r>
              <a:rPr lang="en-US" b="0" dirty="0">
                <a:latin typeface="+mn-lt"/>
              </a:rPr>
              <a:t>• Subtopic: Intelligent Inventory Planning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Vehicle BOM-based component requirement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Stock, safety stock &amp; shortage analysis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Multi-warehouse inventory management</a:t>
            </a:r>
          </a:p>
          <a:p>
            <a:endParaRPr lang="en-US" b="0" dirty="0">
              <a:latin typeface="+mn-lt"/>
            </a:endParaRPr>
          </a:p>
          <a:p>
            <a:r>
              <a:rPr lang="en-US" dirty="0">
                <a:latin typeface="+mn-lt"/>
              </a:rPr>
              <a:t>Module 2: Supplier Intelligence</a:t>
            </a:r>
          </a:p>
          <a:p>
            <a:r>
              <a:rPr lang="en-US" b="0" dirty="0">
                <a:latin typeface="+mn-lt"/>
              </a:rPr>
              <a:t>• Subtopic: Supplier Performance &amp; Risk Analysis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Supplier reliability, quality &amp; lead-time analysis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</a:t>
            </a:r>
            <a:r>
              <a:rPr lang="en-US" b="0" dirty="0" err="1">
                <a:latin typeface="+mn-lt"/>
              </a:rPr>
              <a:t>XGBoost</a:t>
            </a:r>
            <a:r>
              <a:rPr lang="en-US" b="0" dirty="0">
                <a:latin typeface="+mn-lt"/>
              </a:rPr>
              <a:t>-based supplier risk prediction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Supplier capacity &amp; availability analysis</a:t>
            </a:r>
          </a:p>
          <a:p>
            <a:pPr marL="0" indent="0"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Module 3: Intelligent Procurement</a:t>
            </a:r>
          </a:p>
          <a:p>
            <a:r>
              <a:rPr lang="en-US" b="0" dirty="0">
                <a:latin typeface="+mn-lt"/>
              </a:rPr>
              <a:t>• Subtopic: AI-Based Procurement Decision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Multi-criteria supplier ranking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Best supplier &amp; procurement quantity recommendation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Cost, capacity, MOQ &amp; lead-time evaluation</a:t>
            </a:r>
          </a:p>
          <a:p>
            <a:endParaRPr lang="en-US" b="0" dirty="0">
              <a:latin typeface="+mn-lt"/>
            </a:endParaRPr>
          </a:p>
          <a:p>
            <a:r>
              <a:rPr lang="en-US" dirty="0">
                <a:latin typeface="+mn-lt"/>
              </a:rPr>
              <a:t>Module 4: Purchase Order Management</a:t>
            </a:r>
          </a:p>
          <a:p>
            <a:r>
              <a:rPr lang="en-US" b="0" dirty="0">
                <a:latin typeface="+mn-lt"/>
              </a:rPr>
              <a:t>• Subtopic: Procurement Execution &amp; Tracking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Automated purchase order generation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Order, dispatch &amp; delivery tracking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Material receipt &amp; inventory update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4379-A4AA-096B-0A1C-DADCBB20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8A5802-C897-957F-4964-1161B2123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Module 5: Supply Chain Knowledge Intelligence</a:t>
            </a:r>
          </a:p>
          <a:p>
            <a:r>
              <a:rPr lang="en-US" b="0" dirty="0">
                <a:latin typeface="+mn-lt"/>
              </a:rPr>
              <a:t>• Subtopic: Knowledge Graph &amp; Graph-RAG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Vehicle, component, supplier &amp; procurement relationship mapping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Neo4j-based supply-chain Knowledge Graph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Graph-RAG and LLM-based intelligent querying</a:t>
            </a:r>
          </a:p>
          <a:p>
            <a:endParaRPr lang="en-US" b="0" dirty="0">
              <a:latin typeface="+mn-lt"/>
            </a:endParaRPr>
          </a:p>
          <a:p>
            <a:r>
              <a:rPr lang="en-US" dirty="0">
                <a:latin typeface="+mn-lt"/>
              </a:rPr>
              <a:t>Module 6: Agentic AI Decision Support</a:t>
            </a:r>
          </a:p>
          <a:p>
            <a:r>
              <a:rPr lang="en-US" b="0" dirty="0">
                <a:latin typeface="+mn-lt"/>
              </a:rPr>
              <a:t>• Subtopic: Autonomous Supply Chain Intelligence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Inventory, supplier, procurement &amp; risk AI agents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Multi-agent coordination and analysis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• Intelligent alerts, recommendations &amp; decision support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E266B-2A12-DBCF-FA41-FCD7B17DB56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7C216C-8234-AE1F-8D03-0C30EB577FE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D41B2A0-A010-B299-5A9C-58ECA5406FD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753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F88649-35D8-E73D-A473-6A5F5655C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76" y="381000"/>
            <a:ext cx="11942324" cy="597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956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931</Words>
  <Application>Microsoft Office PowerPoint</Application>
  <PresentationFormat>Widescreen</PresentationFormat>
  <Paragraphs>105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radha gohil</cp:lastModifiedBy>
  <cp:revision>20</cp:revision>
  <dcterms:created xsi:type="dcterms:W3CDTF">2024-05-13T10:33:11Z</dcterms:created>
  <dcterms:modified xsi:type="dcterms:W3CDTF">2026-09-07T00:16:36Z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